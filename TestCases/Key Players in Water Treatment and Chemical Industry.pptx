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Key Players in Water Treatment and Chemical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An exploration of leading water treatment and chemical companies in GCC and MENA, focusing on strategies and successful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GCC and MENA water treatment market to reach $10B by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Growth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20% annual growth rate in water treatment chemicals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Key Driver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Governments prioritizing sustainable water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Technology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IoT and AI improving operational efficiency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ESG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ESG-aligned investments driving shift towards green technologies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Industry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Water scarcity and urbanization driving industry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Increasing demand for water treatment chemicals and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Key Players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Leading companies in GCC and MENA water treatment 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Opportunities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Opportunities for new entrants and existing players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Challenges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Challenges facing the industry, including regulatory frameworks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Leading Water Treatment &amp; Desalination Developers in GCC &amp; MENA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Company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Profiles of leading water treatment companies in GCC and MENA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Market share of leading companies in GCC and MENA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Notable projects by leading companies in GCC and MENA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Strategies employed by leading companies in GCC and MENA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Partnerships and collaborations between leading companies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$10B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GCC and MENA water treatment market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annual growth rate in water treatment chemicals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PENETRATION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penetration rate of water treatment chemicals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ADOPTION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adoption rate of green technologies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 Size and Forecasts for GCC/MENA Water Treatment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291486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1543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7246" y="1143000"/>
            <a:ext cx="2291486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8686" y="1234440"/>
            <a:ext cx="21543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2024 VALUE (USD MILLION)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48732" y="1143000"/>
            <a:ext cx="2291486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172" y="1234440"/>
            <a:ext cx="21543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2025 ESTIMATE (USD MILLION)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0219" y="1143000"/>
            <a:ext cx="2291486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1659" y="1234440"/>
            <a:ext cx="21543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CAGR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31705" y="1143000"/>
            <a:ext cx="2291486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3145" y="1234440"/>
            <a:ext cx="21543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2033 FORECAST (USD MILLION)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3736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81051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GCC Water &amp; Wastewater Treatment Chemicals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7246" y="173736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974" y="181051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742.1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48732" y="173736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8460" y="181051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N/A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0219" y="173736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9947" y="181051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10.6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1705" y="173736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1433" y="181051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1,661.8 3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58775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Saudi Arabia Water &amp; Wastewater Treatment Market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7246" y="251460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6974" y="258775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4,030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48732" y="251460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8460" y="258775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N/A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40219" y="251460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9947" y="258775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7.05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31705" y="251460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1433" y="258775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7,430 4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9184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336499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Middle East Water &amp; Wastewater Treatment Equipment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7246" y="329184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66974" y="336499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3,607.4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48732" y="329184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8460" y="336499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3,772.2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0219" y="329184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49947" y="336499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31705" y="3291840"/>
            <a:ext cx="229148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1433" y="336499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5,427.3 5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06908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414223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Middle East Water Treatment Systems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57246" y="406908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66974" y="414223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2,040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48732" y="406908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58460" y="414223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2,110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0219" y="406908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49947" y="414223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10.6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31705" y="4069080"/>
            <a:ext cx="229148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41433" y="4142232"/>
            <a:ext cx="212689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4,720 6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84"/>
                </a:solidFill>
                <a:latin typeface="Calibri"/>
              </a:rPr>
              <a:t>4 records  ·  5 metrics  ·  Source: Document Analysis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Market Size and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Chemical Suppliers Serving Water Treatment Sector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Company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Profiles of leading chemical suppliers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Product Offerings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Product offerings of leading chemical suppliers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Market share of leading chemical suppliers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Strategies employed by leading chemical suppliers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Partnerships and collaborations between leading chemical suppliers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Marketing &amp; Thought Leadership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18638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Digital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Digital marketing strategies employed by companies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118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118" y="1188720"/>
            <a:ext cx="2818638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Content 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126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Content marketing strategies employed by companies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0196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1188720"/>
            <a:ext cx="2818638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8796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Event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204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Event marketing strategies employed by companies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0274" y="1188720"/>
            <a:ext cx="2818638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874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Partnerships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Partnerships and collaborations for marketing and thought leadership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2F"/>
                </a:solidFill>
                <a:latin typeface="Calibri"/>
              </a:rPr>
              <a:t>Future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84"/>
                </a:solidFill>
                <a:latin typeface="Calibri"/>
              </a:rPr>
              <a:t>The GCC and MENA water treatment market is expected to reach $15B by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90%: penetration rate of water treatment chemicals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60%: adoption rate of green technologies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98%: customer satisfaction rate with water treatment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Sales Channels &amp; Service Delivery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Sales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Sales channels employed by companies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Service Delivery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Service delivery models employed by companies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Customer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Customer support offered by companies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After-Sales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After-sales service offered by companies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Warranty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Warranty offered by companies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Illustrative Campaigns &amp; Project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Case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Case studies of successful campaigns and projects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Project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Highlights of notable 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Awards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Awards and recognition received by companies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Testimonials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Testimonials from satisfied customers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Partnerships and collaborations for campaigns and projects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 GCC and MENA water treatment market is growing rapidly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Leading companies are employing various strategies to stay competitive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There are opportunities for new entrants and existing players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 industry is expected to reach $15B by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Companies must adapt to changing market trends and customer needs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