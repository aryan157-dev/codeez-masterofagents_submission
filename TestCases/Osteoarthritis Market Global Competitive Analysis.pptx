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53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4A7C59"/>
                </a:solidFill>
                <a:latin typeface="Calibri"/>
              </a:rPr>
              <a:t>Osteoarthritis Market Global Competitive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9319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3A2F"/>
                </a:solidFill>
                <a:latin typeface="Calibri"/>
              </a:rPr>
              <a:t>Comprehensive insights and strategic analysis on the global osteoarthritis market dynamics and competitive environment for investors.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9A84"/>
                </a:solidFill>
                <a:latin typeface="Calibri"/>
              </a:rPr>
              <a:t>AI-Generated Presentation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97280"/>
            <a:ext cx="2163470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37183" y="1261872"/>
            <a:ext cx="512064" cy="512064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2F"/>
                </a:solidFill>
                <a:latin typeface="Calibri"/>
              </a:rPr>
              <a:t>Market size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84"/>
                </a:solidFill>
                <a:latin typeface="Calibri"/>
              </a:rPr>
              <a:t>Global osteoarthritis market to reach USD 26.6 billion by 2035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06624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06624" y="1097280"/>
            <a:ext cx="2163470" cy="914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2327" y="1261872"/>
            <a:ext cx="512064" cy="512064"/>
          </a:xfrm>
          <a:prstGeom prst="ellipse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8064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2F"/>
                </a:solidFill>
                <a:latin typeface="Calibri"/>
              </a:rPr>
              <a:t>Growth drivers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80944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16352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84"/>
                </a:solidFill>
                <a:latin typeface="Calibri"/>
              </a:rPr>
              <a:t>Aging population, rising prevalence, and increasing demand for innovative therapies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38344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01768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01768" y="1097280"/>
            <a:ext cx="2163470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27471" y="1261872"/>
            <a:ext cx="512064" cy="512064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93208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2F"/>
                </a:solidFill>
                <a:latin typeface="Calibri"/>
              </a:rPr>
              <a:t>Segmentation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76088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11496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84"/>
                </a:solidFill>
                <a:latin typeface="Calibri"/>
              </a:rPr>
              <a:t>Knee osteoarthritis is the largest and fastest-growing segment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33488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96912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96912" y="1097280"/>
            <a:ext cx="2163470" cy="914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122615" y="1261872"/>
            <a:ext cx="512064" cy="512064"/>
          </a:xfrm>
          <a:prstGeom prst="ellipse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88352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2F"/>
                </a:solidFill>
                <a:latin typeface="Calibri"/>
              </a:rPr>
              <a:t>Regional landscape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71232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40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84"/>
                </a:solidFill>
                <a:latin typeface="Calibri"/>
              </a:rPr>
              <a:t>North America leads the market, followed by Europe and Asia-Pacific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28632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92056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1097280"/>
            <a:ext cx="2163470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17759" y="1261872"/>
            <a:ext cx="512064" cy="512064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83496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2F"/>
                </a:solidFill>
                <a:latin typeface="Calibri"/>
              </a:rPr>
              <a:t>Competitive landscape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66376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01784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84"/>
                </a:solidFill>
                <a:latin typeface="Calibri"/>
              </a:rPr>
              <a:t>Major pharmaceutical companies dominate the market, while emerging biotech firms focus on regenerative therapies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0"/>
            <a:ext cx="3749039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solidFill>
            <a:srgbClr val="1E3A2F">
              <a:alpha val="62745"/>
            </a:srgbClr>
          </a:solidFill>
          <a:xfrm>
            <a:off x="91440" y="0"/>
            <a:ext cx="3749039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Market Overview and Dynamics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37160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137160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06240" y="513892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10312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Market trends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521208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Increasing demand for innovative therapies and rising prevalence of osteoarthritis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475841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475841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06240" y="1852574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548993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Patient landscape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859889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Global patient population is expected to grow, driven by an aging population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2814523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0" y="2814523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06240" y="3191256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887675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Competitive landscape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198571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Major pharmaceutical companies dominate the market, while emerging biotech firms focus on regenerative therapies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4153204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0" y="4153204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06240" y="4529937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226356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Regional disparities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537252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Significant differences in treatment access and healthcare infrastructure across regions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5491886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0" y="5491886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06240" y="5868619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565038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Growth opportunities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5875934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Emerging markets and innovative therapies offer growth opportunities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Key Market Statistics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2681478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2681478" cy="5029200"/>
          </a:xfrm>
          <a:prstGeom prst="rect">
            <a:avLst/>
          </a:prstGeom>
          <a:solidFill>
            <a:srgbClr val="F0F4F1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2681478" cy="109728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A9A84"/>
                </a:solidFill>
                <a:latin typeface="Calibri"/>
              </a:rPr>
              <a:t>MARKET SIZE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2132838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874520"/>
            <a:ext cx="263575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A7C59"/>
                </a:solidFill>
                <a:latin typeface="Calibri"/>
              </a:rPr>
              <a:t>USD 7.5 billion to USD 11 billion by 2025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566160"/>
            <a:ext cx="2269998" cy="91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566160"/>
            <a:ext cx="1702498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21558" y="1143000"/>
            <a:ext cx="2681478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75838" y="1097280"/>
            <a:ext cx="268147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75838" y="1097280"/>
            <a:ext cx="2681478" cy="109728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67278" y="1298448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A9A84"/>
                </a:solidFill>
                <a:latin typeface="Calibri"/>
              </a:rPr>
              <a:t>GROWTH RATE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50158" y="1828800"/>
            <a:ext cx="2132838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48990" y="1874520"/>
            <a:ext cx="263575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A7C59"/>
                </a:solidFill>
                <a:latin typeface="Calibri"/>
              </a:rPr>
              <a:t>6.8% CAGR from 2020 to 2025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04438" y="3566160"/>
            <a:ext cx="2269998" cy="91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4438" y="3566160"/>
            <a:ext cx="1475498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0196" y="1143000"/>
            <a:ext cx="2681478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4476" y="1097280"/>
            <a:ext cx="2681478" cy="5029200"/>
          </a:xfrm>
          <a:prstGeom prst="rect">
            <a:avLst/>
          </a:prstGeom>
          <a:solidFill>
            <a:srgbClr val="F0F4F1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4476" y="1097280"/>
            <a:ext cx="2681478" cy="109728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85916" y="1298448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A9A84"/>
                </a:solidFill>
                <a:latin typeface="Calibri"/>
              </a:rPr>
              <a:t>PATIENT POPULATION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68796" y="1828800"/>
            <a:ext cx="2132838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67628" y="1874520"/>
            <a:ext cx="263575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A7C59"/>
                </a:solidFill>
                <a:latin typeface="Calibri"/>
              </a:rPr>
              <a:t>35% of the global population aged 65 and above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23076" y="3566160"/>
            <a:ext cx="2269998" cy="91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23076" y="3566160"/>
            <a:ext cx="1248498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58834" y="1143000"/>
            <a:ext cx="2681478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13114" y="1097280"/>
            <a:ext cx="268147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913114" y="1097280"/>
            <a:ext cx="2681478" cy="109728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4554" y="1298448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A9A84"/>
                </a:solidFill>
                <a:latin typeface="Calibri"/>
              </a:rPr>
              <a:t>PREVALENCE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87434" y="1828800"/>
            <a:ext cx="2132838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86266" y="1874520"/>
            <a:ext cx="263575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A7C59"/>
                </a:solidFill>
                <a:latin typeface="Calibri"/>
              </a:rPr>
              <a:t>59.8% of the global population affected by osteoarthritis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1714" y="3566160"/>
            <a:ext cx="2269998" cy="91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41714" y="3566160"/>
            <a:ext cx="1021499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Global Osteoarthritis Therapeutics Market Size Projections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35204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9A84"/>
                </a:solidFill>
                <a:latin typeface="Calibri"/>
              </a:rPr>
              <a:t>Data visualization
from document analysis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5029200"/>
            <a:ext cx="731520" cy="731520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360" y="91440"/>
            <a:ext cx="9171432" cy="6675120"/>
          </a:xfrm>
          <a:prstGeom prst="rect">
            <a:avLst/>
          </a:prstGeom>
          <a:solidFill>
            <a:srgbClr val="F0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art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82880"/>
            <a:ext cx="8988552" cy="6492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Regional Market Share Distribution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5728716" cy="59436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5915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REGION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4476" y="1143000"/>
            <a:ext cx="5728716" cy="59436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85916" y="1234440"/>
            <a:ext cx="55915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MARKET SHARE (%)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37360"/>
            <a:ext cx="5728716" cy="777240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737360"/>
            <a:ext cx="45720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810512"/>
            <a:ext cx="556412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2F"/>
                </a:solidFill>
                <a:latin typeface="Calibri"/>
              </a:rPr>
              <a:t>North America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4476" y="1737360"/>
            <a:ext cx="5728716" cy="777240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04204" y="1810512"/>
            <a:ext cx="556412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35.1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14600"/>
            <a:ext cx="5728716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514600"/>
            <a:ext cx="45720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2587752"/>
            <a:ext cx="556412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2F"/>
                </a:solidFill>
                <a:latin typeface="Calibri"/>
              </a:rPr>
              <a:t>Europe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4476" y="2514600"/>
            <a:ext cx="5728716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04204" y="2587752"/>
            <a:ext cx="556412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28.0–47.0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291840"/>
            <a:ext cx="5728716" cy="777240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291840"/>
            <a:ext cx="45720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3364992"/>
            <a:ext cx="556412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2F"/>
                </a:solidFill>
                <a:latin typeface="Calibri"/>
              </a:rPr>
              <a:t>Asia‑Pacific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4476" y="3291840"/>
            <a:ext cx="5728716" cy="777240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04204" y="3364992"/>
            <a:ext cx="556412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21.0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160520"/>
            <a:ext cx="11457432" cy="41148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4160520"/>
            <a:ext cx="73152" cy="41148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233672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A9A84"/>
                </a:solidFill>
                <a:latin typeface="Calibri"/>
              </a:rPr>
              <a:t>3 records  ·  2 metrics  ·  Source: Document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Competitive Landscape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2818638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2818638" cy="7315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53312"/>
            <a:ext cx="272719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4A7C59"/>
                </a:solidFill>
                <a:latin typeface="Calibri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2269998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359152"/>
            <a:ext cx="272719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3A2F"/>
                </a:solidFill>
                <a:latin typeface="Calibri"/>
              </a:rPr>
              <a:t>Major players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3063239"/>
            <a:ext cx="269062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A84"/>
                </a:solidFill>
                <a:latin typeface="Calibri"/>
              </a:rPr>
              <a:t>Pfizer, Johnson &amp; Johnson, and other pharmaceutical companies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0118" y="1188720"/>
            <a:ext cx="2818638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30118" y="1188720"/>
            <a:ext cx="2818638" cy="73152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5838" y="1353312"/>
            <a:ext cx="272719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E3A2F"/>
                </a:solidFill>
                <a:latin typeface="Calibri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58718" y="2240280"/>
            <a:ext cx="2269998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75838" y="2359152"/>
            <a:ext cx="272719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3A2F"/>
                </a:solidFill>
                <a:latin typeface="Calibri"/>
              </a:rPr>
              <a:t>Emerging players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4126" y="3063239"/>
            <a:ext cx="269062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A84"/>
                </a:solidFill>
                <a:latin typeface="Calibri"/>
              </a:rPr>
              <a:t>Biotech firms focusing on regenerative therapies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40196" y="1188720"/>
            <a:ext cx="2818638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40196" y="1188720"/>
            <a:ext cx="2818638" cy="73152"/>
          </a:xfrm>
          <a:prstGeom prst="rect">
            <a:avLst/>
          </a:prstGeom>
          <a:solidFill>
            <a:srgbClr val="4A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85916" y="1353312"/>
            <a:ext cx="272719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4A6A4A"/>
                </a:solidFill>
                <a:latin typeface="Calibri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68796" y="2240280"/>
            <a:ext cx="2269998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85916" y="2359152"/>
            <a:ext cx="272719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3A2F"/>
                </a:solidFill>
                <a:latin typeface="Calibri"/>
              </a:rPr>
              <a:t>Market trends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4204" y="3063239"/>
            <a:ext cx="269062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A84"/>
                </a:solidFill>
                <a:latin typeface="Calibri"/>
              </a:rPr>
              <a:t>Increasing demand for innovative therapies and rising prevalence of osteoarthritis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0274" y="1188720"/>
            <a:ext cx="2818638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50274" y="1188720"/>
            <a:ext cx="2818638" cy="73152"/>
          </a:xfrm>
          <a:prstGeom prst="rect">
            <a:avLst/>
          </a:prstGeom>
          <a:solidFill>
            <a:srgbClr val="3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5994" y="1353312"/>
            <a:ext cx="272719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3A3A5A"/>
                </a:solidFill>
                <a:latin typeface="Calibri"/>
              </a:rPr>
              <a:t>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78874" y="2240280"/>
            <a:ext cx="2269998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5994" y="2359152"/>
            <a:ext cx="272719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3A2F"/>
                </a:solidFill>
                <a:latin typeface="Calibri"/>
              </a:rPr>
              <a:t>Growth strategies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4282" y="3063239"/>
            <a:ext cx="269062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A84"/>
                </a:solidFill>
                <a:latin typeface="Calibri"/>
              </a:rPr>
              <a:t>Partnerships, acquisitions, and innovative product development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0"/>
            <a:ext cx="3749039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solidFill>
            <a:srgbClr val="1E3A2F">
              <a:alpha val="62745"/>
            </a:srgbClr>
          </a:solidFill>
          <a:xfrm>
            <a:off x="91440" y="0"/>
            <a:ext cx="3749039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Pfizer Inc. Detailed Competitive Assessment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37160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137160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06240" y="513892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10312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Company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521208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Pfizer is a leading pharmaceutical company with a diversified portfolio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475841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475841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06240" y="1852574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548993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Product portfolio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859889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Pfizer has a range of osteoarthritis treatments, including pain management and disease-modifying therapies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2814523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0" y="2814523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06240" y="3191256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887675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Market share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198571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Pfizer has a significant market share in the osteoarthritis market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4153204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0" y="4153204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06240" y="4529937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226356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Growth strategies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537252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Pfizer is focused on innovative product development and strategic partnerships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5491886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0" y="5491886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06240" y="5868619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565038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Challenges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5875934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Pfizer faces challenges from emerging biotech firms and increasing competition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Market Evolution and Milestones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657600"/>
            <a:ext cx="11457432" cy="4572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3657600"/>
            <a:ext cx="11457432" cy="4572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65199" y="3534156"/>
            <a:ext cx="292608" cy="292608"/>
          </a:xfrm>
          <a:prstGeom prst="ellipse">
            <a:avLst/>
          </a:prstGeom>
          <a:solidFill>
            <a:srgbClr val="FFFFFF"/>
          </a:solidFill>
          <a:ln w="27940">
            <a:solidFill>
              <a:srgbClr val="4A7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52067" y="3621024"/>
            <a:ext cx="118872" cy="118872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1234440"/>
            <a:ext cx="218175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A7C59"/>
                </a:solidFill>
                <a:latin typeface="Calibri"/>
              </a:rPr>
              <a:t>2020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02359" y="1618488"/>
            <a:ext cx="18288" cy="203911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" y="3950208"/>
            <a:ext cx="2181758" cy="2514600"/>
          </a:xfrm>
          <a:prstGeom prst="rect">
            <a:avLst/>
          </a:prstGeom>
          <a:solidFill>
            <a:srgbClr val="F0F4F1"/>
          </a:solidFill>
          <a:ln w="889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" y="3950208"/>
            <a:ext cx="2181758" cy="4572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" y="4059936"/>
            <a:ext cx="2053742" cy="2350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3A2F"/>
                </a:solidFill>
                <a:latin typeface="Calibri"/>
              </a:rPr>
              <a:t>Osteoarthritis market size reached USD 7.5 billion</a:t>
            </a:r>
          </a:p>
        </p:txBody>
      </p:sp>
      <p:sp>
        <p:nvSpPr>
          <p:cNvPr id="15" name="Oval 14"/>
          <p:cNvSpPr/>
          <p:nvPr/>
        </p:nvSpPr>
        <p:spPr>
          <a:xfrm>
            <a:off x="3656685" y="3534156"/>
            <a:ext cx="292608" cy="292608"/>
          </a:xfrm>
          <a:prstGeom prst="ellipse">
            <a:avLst/>
          </a:prstGeom>
          <a:solidFill>
            <a:srgbClr val="FFFFFF"/>
          </a:solidFill>
          <a:ln w="27940">
            <a:solidFill>
              <a:srgbClr val="4A7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43553" y="3621024"/>
            <a:ext cx="118872" cy="118872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12110" y="850392"/>
            <a:ext cx="2181758" cy="2514600"/>
          </a:xfrm>
          <a:prstGeom prst="rect">
            <a:avLst/>
          </a:prstGeom>
          <a:solidFill>
            <a:srgbClr val="F0F4F1"/>
          </a:solidFill>
          <a:ln w="889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12110" y="3319272"/>
            <a:ext cx="2181758" cy="4572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76118" y="923544"/>
            <a:ext cx="205374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3A2F"/>
                </a:solidFill>
                <a:latin typeface="Calibri"/>
              </a:rPr>
              <a:t>Emerging biotech firms started to focus on regenerative therapies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93845" y="3364992"/>
            <a:ext cx="18288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12110" y="3950208"/>
            <a:ext cx="218175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A7C59"/>
                </a:solidFill>
                <a:latin typeface="Calibri"/>
              </a:rPr>
              <a:t>2022</a:t>
            </a:r>
          </a:p>
        </p:txBody>
      </p:sp>
      <p:sp>
        <p:nvSpPr>
          <p:cNvPr id="22" name="Oval 21"/>
          <p:cNvSpPr/>
          <p:nvPr/>
        </p:nvSpPr>
        <p:spPr>
          <a:xfrm>
            <a:off x="5948172" y="3534156"/>
            <a:ext cx="292608" cy="292608"/>
          </a:xfrm>
          <a:prstGeom prst="ellipse">
            <a:avLst/>
          </a:prstGeom>
          <a:solidFill>
            <a:srgbClr val="FFFFFF"/>
          </a:solidFill>
          <a:ln w="27940">
            <a:solidFill>
              <a:srgbClr val="4A7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035040" y="3621024"/>
            <a:ext cx="118872" cy="118872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3596" y="1234440"/>
            <a:ext cx="218175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A7C59"/>
                </a:solidFill>
                <a:latin typeface="Calibri"/>
              </a:rPr>
              <a:t>2025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5332" y="1618488"/>
            <a:ext cx="18288" cy="203911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03596" y="3950208"/>
            <a:ext cx="2181758" cy="2514600"/>
          </a:xfrm>
          <a:prstGeom prst="rect">
            <a:avLst/>
          </a:prstGeom>
          <a:solidFill>
            <a:srgbClr val="F0F4F1"/>
          </a:solidFill>
          <a:ln w="889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03596" y="3950208"/>
            <a:ext cx="2181758" cy="4572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67604" y="4059936"/>
            <a:ext cx="2053742" cy="2350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3A2F"/>
                </a:solidFill>
                <a:latin typeface="Calibri"/>
              </a:rPr>
              <a:t>Market size is expected to reach USD 11 billion</a:t>
            </a:r>
          </a:p>
        </p:txBody>
      </p:sp>
      <p:sp>
        <p:nvSpPr>
          <p:cNvPr id="29" name="Oval 28"/>
          <p:cNvSpPr/>
          <p:nvPr/>
        </p:nvSpPr>
        <p:spPr>
          <a:xfrm>
            <a:off x="8239658" y="3534156"/>
            <a:ext cx="292608" cy="292608"/>
          </a:xfrm>
          <a:prstGeom prst="ellipse">
            <a:avLst/>
          </a:prstGeom>
          <a:solidFill>
            <a:srgbClr val="FFFFFF"/>
          </a:solidFill>
          <a:ln w="27940">
            <a:solidFill>
              <a:srgbClr val="4A7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326526" y="3621024"/>
            <a:ext cx="118872" cy="118872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95083" y="850392"/>
            <a:ext cx="2181758" cy="2514600"/>
          </a:xfrm>
          <a:prstGeom prst="rect">
            <a:avLst/>
          </a:prstGeom>
          <a:solidFill>
            <a:srgbClr val="F0F4F1"/>
          </a:solidFill>
          <a:ln w="889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95083" y="3319272"/>
            <a:ext cx="2181758" cy="4572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59091" y="923544"/>
            <a:ext cx="205374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3A2F"/>
                </a:solidFill>
                <a:latin typeface="Calibri"/>
              </a:rPr>
              <a:t>Innovative therapies are expected to drive market growth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76818" y="3364992"/>
            <a:ext cx="18288" cy="2926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95083" y="3950208"/>
            <a:ext cx="218175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A7C59"/>
                </a:solidFill>
                <a:latin typeface="Calibri"/>
              </a:rPr>
              <a:t>2027</a:t>
            </a:r>
          </a:p>
        </p:txBody>
      </p:sp>
      <p:sp>
        <p:nvSpPr>
          <p:cNvPr id="36" name="Oval 35"/>
          <p:cNvSpPr/>
          <p:nvPr/>
        </p:nvSpPr>
        <p:spPr>
          <a:xfrm>
            <a:off x="10531144" y="3534156"/>
            <a:ext cx="292608" cy="292608"/>
          </a:xfrm>
          <a:prstGeom prst="ellipse">
            <a:avLst/>
          </a:prstGeom>
          <a:solidFill>
            <a:srgbClr val="FFFFFF"/>
          </a:solidFill>
          <a:ln w="27940">
            <a:solidFill>
              <a:srgbClr val="4A7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618012" y="3621024"/>
            <a:ext cx="118872" cy="118872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86569" y="1234440"/>
            <a:ext cx="218175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A7C59"/>
                </a:solidFill>
                <a:latin typeface="Calibri"/>
              </a:rPr>
              <a:t>2030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668304" y="1618488"/>
            <a:ext cx="18288" cy="203911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586569" y="3950208"/>
            <a:ext cx="2181758" cy="2514600"/>
          </a:xfrm>
          <a:prstGeom prst="rect">
            <a:avLst/>
          </a:prstGeom>
          <a:solidFill>
            <a:srgbClr val="F0F4F1"/>
          </a:solidFill>
          <a:ln w="889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586569" y="3950208"/>
            <a:ext cx="2181758" cy="4572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50577" y="4059936"/>
            <a:ext cx="2053742" cy="2350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3A2F"/>
                </a:solidFill>
                <a:latin typeface="Calibri"/>
              </a:rPr>
              <a:t>Osteoarthritis market is expected to reach USD 20 billion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solidFill>
            <a:srgbClr val="0A0A0A">
              <a:alpha val="68627"/>
            </a:srgbClr>
          </a:soli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" y="0"/>
            <a:ext cx="12079224" cy="109728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E3A2F"/>
                </a:solidFill>
                <a:latin typeface="Calibri"/>
              </a:rPr>
              <a:t>Osteoarthritis Market to Reach USD 26.6 Billion by 2035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7A9A84"/>
                </a:solidFill>
                <a:latin typeface="Calibri"/>
              </a:rPr>
              <a:t>The osteoarthritis market is expected to reach USD 26.6 billion by 2035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897880"/>
            <a:ext cx="5545836" cy="7315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897880"/>
            <a:ext cx="54864" cy="73152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007608"/>
            <a:ext cx="53172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Growth rate: 9.5% CAGR from 2025 to 2035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0196" y="5897880"/>
            <a:ext cx="5545836" cy="7315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0196" y="5897880"/>
            <a:ext cx="54864" cy="73152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7356" y="6007608"/>
            <a:ext cx="53172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Market drivers: Aging population, rising prevalence, and increasing demand for innovative therapies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Market Entry Barriers and Opportunities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286435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864358" cy="5486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170432"/>
            <a:ext cx="271805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Regulatory barriers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737360"/>
            <a:ext cx="2718054" cy="640080"/>
          </a:xfrm>
          <a:prstGeom prst="rect">
            <a:avLst/>
          </a:prstGeom>
          <a:solidFill>
            <a:srgbClr val="F0F4F1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" y="1810512"/>
            <a:ext cx="260832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3A2F"/>
                </a:solidFill>
                <a:latin typeface="Calibri"/>
              </a:rPr>
              <a:t>Stringent regulatory requirements for new treatments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4126" y="1097280"/>
            <a:ext cx="286435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4126" y="1097280"/>
            <a:ext cx="2864358" cy="5486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7278" y="1170432"/>
            <a:ext cx="271805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Competition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67278" y="1737360"/>
            <a:ext cx="2718054" cy="640080"/>
          </a:xfrm>
          <a:prstGeom prst="rect">
            <a:avLst/>
          </a:prstGeom>
          <a:solidFill>
            <a:srgbClr val="F0F4F1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2142" y="1810512"/>
            <a:ext cx="260832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3A2F"/>
                </a:solidFill>
                <a:latin typeface="Calibri"/>
              </a:rPr>
              <a:t>High competition from established pharmaceutical companies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2492" y="1097280"/>
            <a:ext cx="286435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22492" y="1097280"/>
            <a:ext cx="2864358" cy="54864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5644" y="1170432"/>
            <a:ext cx="271805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Innovation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95644" y="1737360"/>
            <a:ext cx="2718054" cy="640080"/>
          </a:xfrm>
          <a:prstGeom prst="rect">
            <a:avLst/>
          </a:prstGeom>
          <a:solidFill>
            <a:srgbClr val="F0F4F1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508" y="1810512"/>
            <a:ext cx="260832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3A2F"/>
                </a:solidFill>
                <a:latin typeface="Calibri"/>
              </a:rPr>
              <a:t>Opportunities for innovative therapies and treatments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50858" y="1097280"/>
            <a:ext cx="286435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50858" y="1097280"/>
            <a:ext cx="2864358" cy="548640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24010" y="1170432"/>
            <a:ext cx="271805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Partnerships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24010" y="1737360"/>
            <a:ext cx="2718054" cy="640080"/>
          </a:xfrm>
          <a:prstGeom prst="rect">
            <a:avLst/>
          </a:prstGeom>
          <a:solidFill>
            <a:srgbClr val="F0F4F1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78874" y="1810512"/>
            <a:ext cx="260832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3A2F"/>
                </a:solidFill>
                <a:latin typeface="Calibri"/>
              </a:rPr>
              <a:t>Opportunities for partnerships and collaborations with emerging biotech firms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solidFill>
            <a:srgbClr val="0A0A0A">
              <a:alpha val="68627"/>
            </a:srgbClr>
          </a:soli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73152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4996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7C59"/>
                </a:solidFill>
                <a:latin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4996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The osteoarthritis market is expected to reach USD 26.6 billion by 2035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860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286000"/>
            <a:ext cx="73152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4140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7C59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4140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Growth drivers: Aging population, rising prevalence, and increasing demand for innovative therapies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004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200400"/>
            <a:ext cx="73152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3284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7C59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3284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Competitive landscape: Major pharmaceutical companies dominate the market, while emerging biotech firms focus on regenerative therapies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1148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114800"/>
            <a:ext cx="73152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2428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7C59"/>
                </a:solidFill>
                <a:latin typeface="Calibr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2428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Growth opportunities: Emerging markets and innovative therapies offer growth opportunities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0292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5029200"/>
            <a:ext cx="73152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51572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7C59"/>
                </a:solidFill>
                <a:latin typeface="Calibr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1572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Challenges: Regulatory barriers, competition, and reimbursement challenges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