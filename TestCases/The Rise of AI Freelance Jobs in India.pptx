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4A7C59"/>
                </a:solidFill>
                <a:latin typeface="Calibri"/>
              </a:rPr>
              <a:t>The Rise of AI Freelance Jobs in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931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3A2F"/>
                </a:solidFill>
                <a:latin typeface="Calibri"/>
              </a:rPr>
              <a:t>Exploring the booming AI freelance market in India, with diverse opportunities and challenges from 2025 to 2030.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84"/>
                </a:solidFill>
                <a:latin typeface="Calibri"/>
              </a:rPr>
              <a:t>AI-Generated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7183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Market Growth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AI freelance market in India to reach $17 billion by 2027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06624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06624" y="1097280"/>
            <a:ext cx="2163470" cy="914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2327" y="1261872"/>
            <a:ext cx="512064" cy="512064"/>
          </a:xfrm>
          <a:prstGeom prst="ellipse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Productivity Boost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0944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70% of freelancers reported income increases by 2024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8344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01768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1768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27471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Specialized Roles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76088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1496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40% higher hourly rates for specialized AI roles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3488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1097280"/>
            <a:ext cx="2163470" cy="914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22615" y="1261872"/>
            <a:ext cx="512064" cy="512064"/>
          </a:xfrm>
          <a:prstGeom prst="ellipse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Skill Demand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71232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52% rise in AI-related tasks on platforms like Upwork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8632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92056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7759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3496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Future Outlook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66376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01784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Robust growth driven by infrastructure improvements and global outreach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Introduction to the AI-Driven Freelance Ecosystem in India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Growth Opportunities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India AI freelance market projected at $17B by 2027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Key Drivers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Adoption of advanced tools like ChatGPT and Ola’s Kruti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Freelancer Productivity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70% reported income increases by 2024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Specialized Roles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High demand for prompt engineering and generative AI skills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Global Outreach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Expansion to U.S. markets driving growth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Key Statistics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681478" cy="5029200"/>
          </a:xfrm>
          <a:prstGeom prst="rect">
            <a:avLst/>
          </a:prstGeom>
          <a:solidFill>
            <a:srgbClr val="F0F4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INCOME INCREASE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70%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566160"/>
            <a:ext cx="1702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reported by freelancers by 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1558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5838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75838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7278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HOURLY RATE PREMIUM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50158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48990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40%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04438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04438" y="3566160"/>
            <a:ext cx="1475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7278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for specialized AI roles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0196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4476" y="1097280"/>
            <a:ext cx="2681478" cy="5029200"/>
          </a:xfrm>
          <a:prstGeom prst="rect">
            <a:avLst/>
          </a:prstGeom>
          <a:solidFill>
            <a:srgbClr val="F0F4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4476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5916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TASK GROWTH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68796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7628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52%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3076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23076" y="3566160"/>
            <a:ext cx="1248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5916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rise in AI-related tasks on platforms like Upwork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58834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3114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13114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4554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MARKET SIZE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7434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86266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$17B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1714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1714" y="3566160"/>
            <a:ext cx="1021499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4554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projected AI freelance market in India by 2027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Successes and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454396" cy="5029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52715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SUCCESSES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64008" cy="80467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Global Competition: India-based freelancers compete with Eastern Europe on Upwork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64008" cy="80467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7432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Skill Gaps: Regional disparities in access to quality education and training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64008" cy="80467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6576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Infrastructure: Improvements in infrastructure driving growth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7356" y="1143000"/>
            <a:ext cx="5454396" cy="50292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8796" y="1216152"/>
            <a:ext cx="52715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CHALLENGES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7356" y="17373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7356" y="1737360"/>
            <a:ext cx="64008" cy="80467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1948" y="18288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Rural Freelancers: Facing challenges in accessing quality internet and technology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7356" y="26517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7356" y="2651760"/>
            <a:ext cx="64008" cy="80467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1948" y="27432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Urban Freelancers: Benefiting from access to high-quality infrastructure and resources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7356" y="3566160"/>
            <a:ext cx="5454396" cy="804672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7356" y="3566160"/>
            <a:ext cx="64008" cy="80467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1948" y="3657600"/>
            <a:ext cx="52257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Government Support: Initiatives to support rural freelancers and address skill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48756" y="1143000"/>
            <a:ext cx="54864" cy="54406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High-Demand AI Freelance Specializations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Prompt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High demand for skilled prompt engineers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Generative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Growing demand for generative AI skills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AI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Increased demand for AI development services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Data Science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High demand for data science and analytics services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Cybersecurity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Growing demand for cybersecurity 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Future Outlook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236622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7C59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Robust growth driven by infrastructure improvements and global outreach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48102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48102" y="1188720"/>
            <a:ext cx="2236622" cy="7315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3822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E3A2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6702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3822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Innovation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2110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Increased adoption of advanced AI tools and technologies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6164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76164" y="1188720"/>
            <a:ext cx="2236622" cy="73152"/>
          </a:xfrm>
          <a:prstGeom prst="rect">
            <a:avLst/>
          </a:prstGeom>
          <a:solidFill>
            <a:srgbClr val="4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1884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6A4A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04764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1884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Diversification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0172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Expansion into new markets and industries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04227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04227" y="1188720"/>
            <a:ext cx="2236622" cy="73152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9947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3A3A5A"/>
                </a:solidFill>
                <a:latin typeface="Calibri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2827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49947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Globalization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8235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Increased global competition and collaboration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32289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32289" y="1188720"/>
            <a:ext cx="2236622" cy="73152"/>
          </a:xfrm>
          <a:prstGeom prst="rect">
            <a:avLst/>
          </a:prstGeom>
          <a:solidFill>
            <a:srgbClr val="5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8009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5A3A3A"/>
                </a:solidFill>
                <a:latin typeface="Calibri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60889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78009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Skill Development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6297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Emphasis on upskilling and reskilling for freelancers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Strategic Guidance for Aspiring AI Freelancers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Skill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Focus on developing high-demand AI skills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Networking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Building a strong professional network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Personal Branding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Creating a strong personal brand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Marketing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Effective marketing and self-promotion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Continuous 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Staying up-to-date with industry trends and technologies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Platforms, Marketplaces, and Ecosystem Players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864358" cy="5486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Upwork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737360"/>
            <a:ext cx="2718054" cy="640080"/>
          </a:xfrm>
          <a:prstGeom prst="rect">
            <a:avLst/>
          </a:prstGeom>
          <a:solidFill>
            <a:srgbClr val="F0F4F1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3A2F"/>
                </a:solidFill>
                <a:latin typeface="Calibri"/>
              </a:rPr>
              <a:t>Leading platform for freelance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4126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4126" y="1097280"/>
            <a:ext cx="2864358" cy="5486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7278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Fiverr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7278" y="1737360"/>
            <a:ext cx="2718054" cy="640080"/>
          </a:xfrm>
          <a:prstGeom prst="rect">
            <a:avLst/>
          </a:prstGeom>
          <a:solidFill>
            <a:srgbClr val="F0F4F1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2142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3A2F"/>
                </a:solidFill>
                <a:latin typeface="Calibri"/>
              </a:rPr>
              <a:t>Popular platform for freelance services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2492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2492" y="1097280"/>
            <a:ext cx="2864358" cy="5486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5644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Freelancer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5644" y="1737360"/>
            <a:ext cx="2718054" cy="640080"/>
          </a:xfrm>
          <a:prstGeom prst="rect">
            <a:avLst/>
          </a:prstGeom>
          <a:solidFill>
            <a:srgbClr val="F0F4F1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508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3A2F"/>
                </a:solidFill>
                <a:latin typeface="Calibri"/>
              </a:rPr>
              <a:t>Platform for freelance work and contests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50858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50858" y="1097280"/>
            <a:ext cx="2864358" cy="54864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4010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Toptal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24010" y="1737360"/>
            <a:ext cx="2718054" cy="640080"/>
          </a:xfrm>
          <a:prstGeom prst="rect">
            <a:avLst/>
          </a:prstGeom>
          <a:solidFill>
            <a:srgbClr val="F0F4F1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8874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3A2F"/>
                </a:solidFill>
                <a:latin typeface="Calibri"/>
              </a:rPr>
              <a:t>Platform for high-end freelance talent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Policy Landscape and Institutional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Government Initiatives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Support for rural freelancers and skill development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Regulatory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Development of a regulatory framework for the freelance industry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Taxation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Simplification of taxation for freelancers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Social 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Provision of social security benefits for freelancers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Infrastructure Development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Investment in infrastructure development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0"/>
            <a:ext cx="12079224" cy="10972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E3A2F"/>
                </a:solidFill>
                <a:latin typeface="Calibri"/>
              </a:rPr>
              <a:t>India's AI Freelance Market Will Reach $17 Billion by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A9A84"/>
                </a:solidFill>
                <a:latin typeface="Calibri"/>
              </a:rPr>
              <a:t>Market growth driven by infrastructure improvements and global outreach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97880"/>
            <a:ext cx="54864" cy="7315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AI: 52% rise in AI-related tasks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4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1104" y="5897880"/>
            <a:ext cx="54864" cy="7315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8264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Freelance: 70% of freelancers reported income increases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9288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9288" y="5897880"/>
            <a:ext cx="54864" cy="7315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Growth: Robust growth projected for the next 5 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Illustrative Case Studies and Success Narratives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236622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7C59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Success 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Indian freelancer achieves success on Upwork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48102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48102" y="1188720"/>
            <a:ext cx="2236622" cy="7315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3822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E3A2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6702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3822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Growth 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2110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Freelancer expands business to new markets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6164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76164" y="1188720"/>
            <a:ext cx="2236622" cy="73152"/>
          </a:xfrm>
          <a:prstGeom prst="rect">
            <a:avLst/>
          </a:prstGeom>
          <a:solidFill>
            <a:srgbClr val="4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1884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6A4A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04764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1884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Innovation 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0172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Freelancer develops innovative AI solution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04227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04227" y="1188720"/>
            <a:ext cx="2236622" cy="73152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9947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3A3A5A"/>
                </a:solidFill>
                <a:latin typeface="Calibri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2827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49947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Challenges 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8235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Freelancer overcomes challenges to achieve success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32289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32289" y="1188720"/>
            <a:ext cx="2236622" cy="73152"/>
          </a:xfrm>
          <a:prstGeom prst="rect">
            <a:avLst/>
          </a:prstGeom>
          <a:solidFill>
            <a:srgbClr val="5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8009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5A3A3A"/>
                </a:solidFill>
                <a:latin typeface="Calibri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60889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78009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Lessons Learned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6297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Key takeaways from successful freelancers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996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Growth: Robust growth projected for the AI freelance market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14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140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Opportunities: High-demand AI skills and specializations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28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284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Challenges: Regional disparities and skill gaps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428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Future Outlook: Increased adoption of AI tools and technologies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292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572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572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Key Takeaway: India's AI freelance market will reach $17 billion by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