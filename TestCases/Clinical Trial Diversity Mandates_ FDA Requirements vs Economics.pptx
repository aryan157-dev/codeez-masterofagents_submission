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tretch>
            <a:fillRect/>
          </a:stretch>
        </p:blipFill>
        <p:spPr>
          <a:xfrm>
            <a:off x="5943600" y="0"/>
            <a:ext cx="6245352" cy="6858000"/>
          </a:xfrm>
          <a:prstGeom prst="rect">
            <a:avLst/>
          </a:prstGeom>
        </p:spPr>
      </p:pic>
      <p:sp>
        <p:nvSpPr>
          <p:cNvPr id="4" name="Rectangle 3"/>
          <p:cNvSpPr/>
          <p:nvPr/>
        </p:nvSpPr>
        <p:spPr>
          <a:xfrm>
            <a:off x="0" y="0"/>
            <a:ext cx="109728"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1645920"/>
            <a:ext cx="5303520" cy="2011680"/>
          </a:xfrm>
          <a:prstGeom prst="rect">
            <a:avLst/>
          </a:prstGeom>
          <a:noFill/>
        </p:spPr>
        <p:txBody>
          <a:bodyPr wrap="square">
            <a:spAutoFit/>
          </a:bodyPr>
          <a:lstStyle/>
          <a:p>
            <a:pPr algn="l"/>
            <a:r>
              <a:rPr sz="4000" b="1">
                <a:solidFill>
                  <a:srgbClr val="4A7C59"/>
                </a:solidFill>
                <a:latin typeface="Calibri"/>
              </a:rPr>
              <a:t>Clinical Trial Diversity Mandates: FDA Requirements vs Economics</a:t>
            </a:r>
          </a:p>
        </p:txBody>
      </p:sp>
      <p:sp>
        <p:nvSpPr>
          <p:cNvPr id="6" name="TextBox 5"/>
          <p:cNvSpPr txBox="1"/>
          <p:nvPr/>
        </p:nvSpPr>
        <p:spPr>
          <a:xfrm>
            <a:off x="365760" y="3931920"/>
            <a:ext cx="5303520" cy="914400"/>
          </a:xfrm>
          <a:prstGeom prst="rect">
            <a:avLst/>
          </a:prstGeom>
          <a:noFill/>
        </p:spPr>
        <p:txBody>
          <a:bodyPr wrap="square">
            <a:spAutoFit/>
          </a:bodyPr>
          <a:lstStyle/>
          <a:p>
            <a:pPr algn="l"/>
            <a:r>
              <a:rPr sz="1500" b="0">
                <a:solidFill>
                  <a:srgbClr val="1E3A2F"/>
                </a:solidFill>
                <a:latin typeface="Calibri"/>
              </a:rPr>
              <a:t>Exploration of the complex dynamics between FDA's diversity requirements for clinical trials and the economic factors affecting enrollment. The report offers insights into regulatory frameworks, economic implications for sponsors, and strategic policy recommendations to enhance diversity while balancing economic realities.</a:t>
            </a:r>
          </a:p>
        </p:txBody>
      </p:sp>
      <p:sp>
        <p:nvSpPr>
          <p:cNvPr id="7" name="TextBox 6"/>
          <p:cNvSpPr txBox="1"/>
          <p:nvPr/>
        </p:nvSpPr>
        <p:spPr>
          <a:xfrm>
            <a:off x="365760" y="6400800"/>
            <a:ext cx="5029200" cy="365760"/>
          </a:xfrm>
          <a:prstGeom prst="rect">
            <a:avLst/>
          </a:prstGeom>
          <a:noFill/>
        </p:spPr>
        <p:txBody>
          <a:bodyPr wrap="square">
            <a:spAutoFit/>
          </a:bodyPr>
          <a:lstStyle/>
          <a:p>
            <a:pPr algn="l"/>
            <a:r>
              <a:rPr sz="900" b="0">
                <a:solidFill>
                  <a:srgbClr val="7A9A84"/>
                </a:solidFill>
                <a:latin typeface="Calibri"/>
              </a:rPr>
              <a:t>AI-Generated Presentation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0058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10058400" cy="731520"/>
          </a:xfrm>
          <a:prstGeom prst="rect">
            <a:avLst/>
          </a:prstGeom>
          <a:noFill/>
        </p:spPr>
        <p:txBody>
          <a:bodyPr wrap="square">
            <a:spAutoFit/>
          </a:bodyPr>
          <a:lstStyle/>
          <a:p>
            <a:pPr algn="l"/>
            <a:r>
              <a:rPr sz="2400" b="1">
                <a:solidFill>
                  <a:srgbClr val="FFFFFF"/>
                </a:solidFill>
                <a:latin typeface="Calibri"/>
              </a:rPr>
              <a:t>Executive Summary</a:t>
            </a:r>
          </a:p>
        </p:txBody>
      </p:sp>
      <p:sp>
        <p:nvSpPr>
          <p:cNvPr id="5" name="Rectangle 4"/>
          <p:cNvSpPr/>
          <p:nvPr/>
        </p:nvSpPr>
        <p:spPr>
          <a:xfrm>
            <a:off x="448056" y="1133856"/>
            <a:ext cx="216347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11480" y="1097280"/>
            <a:ext cx="2163470" cy="502920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11480" y="1097280"/>
            <a:ext cx="2163470"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237183" y="1261872"/>
            <a:ext cx="512064" cy="512064"/>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1</a:t>
            </a:r>
          </a:p>
        </p:txBody>
      </p:sp>
      <p:sp>
        <p:nvSpPr>
          <p:cNvPr id="9" name="TextBox 8"/>
          <p:cNvSpPr txBox="1"/>
          <p:nvPr/>
        </p:nvSpPr>
        <p:spPr>
          <a:xfrm>
            <a:off x="502920" y="1920240"/>
            <a:ext cx="1998878" cy="640080"/>
          </a:xfrm>
          <a:prstGeom prst="rect">
            <a:avLst/>
          </a:prstGeom>
          <a:noFill/>
        </p:spPr>
        <p:txBody>
          <a:bodyPr wrap="square">
            <a:spAutoFit/>
          </a:bodyPr>
          <a:lstStyle/>
          <a:p>
            <a:pPr algn="ctr"/>
            <a:r>
              <a:rPr sz="1200" b="1">
                <a:solidFill>
                  <a:srgbClr val="1E3A2F"/>
                </a:solidFill>
                <a:latin typeface="Calibri"/>
              </a:rPr>
              <a:t>Introduction</a:t>
            </a:r>
          </a:p>
        </p:txBody>
      </p:sp>
      <p:sp>
        <p:nvSpPr>
          <p:cNvPr id="10" name="Rectangle 9"/>
          <p:cNvSpPr/>
          <p:nvPr/>
        </p:nvSpPr>
        <p:spPr>
          <a:xfrm>
            <a:off x="685800" y="2633472"/>
            <a:ext cx="1614830" cy="3657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2761488"/>
            <a:ext cx="1980590" cy="3108960"/>
          </a:xfrm>
          <a:prstGeom prst="rect">
            <a:avLst/>
          </a:prstGeom>
          <a:noFill/>
        </p:spPr>
        <p:txBody>
          <a:bodyPr wrap="square">
            <a:spAutoFit/>
          </a:bodyPr>
          <a:lstStyle/>
          <a:p>
            <a:pPr algn="ctr"/>
            <a:r>
              <a:rPr sz="1000" b="0">
                <a:solidFill>
                  <a:srgbClr val="7A9A84"/>
                </a:solidFill>
                <a:latin typeface="Calibri"/>
              </a:rPr>
              <a:t>U.S. regulators evolve to auditable Diversity Action Plans</a:t>
            </a:r>
          </a:p>
        </p:txBody>
      </p:sp>
      <p:sp>
        <p:nvSpPr>
          <p:cNvPr id="12" name="Rectangle 11"/>
          <p:cNvSpPr/>
          <p:nvPr/>
        </p:nvSpPr>
        <p:spPr>
          <a:xfrm>
            <a:off x="2743200" y="1133856"/>
            <a:ext cx="216347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06624" y="1097280"/>
            <a:ext cx="2163470" cy="502920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06624" y="1097280"/>
            <a:ext cx="2163470" cy="914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32327" y="1261872"/>
            <a:ext cx="512064" cy="512064"/>
          </a:xfrm>
          <a:prstGeom prst="ellipse">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2</a:t>
            </a:r>
          </a:p>
        </p:txBody>
      </p:sp>
      <p:sp>
        <p:nvSpPr>
          <p:cNvPr id="16" name="TextBox 15"/>
          <p:cNvSpPr txBox="1"/>
          <p:nvPr/>
        </p:nvSpPr>
        <p:spPr>
          <a:xfrm>
            <a:off x="2798064" y="1920240"/>
            <a:ext cx="1998878" cy="640080"/>
          </a:xfrm>
          <a:prstGeom prst="rect">
            <a:avLst/>
          </a:prstGeom>
          <a:noFill/>
        </p:spPr>
        <p:txBody>
          <a:bodyPr wrap="square">
            <a:spAutoFit/>
          </a:bodyPr>
          <a:lstStyle/>
          <a:p>
            <a:pPr algn="ctr"/>
            <a:r>
              <a:rPr sz="1200" b="1">
                <a:solidFill>
                  <a:srgbClr val="1E3A2F"/>
                </a:solidFill>
                <a:latin typeface="Calibri"/>
              </a:rPr>
              <a:t>Historical Development</a:t>
            </a:r>
          </a:p>
        </p:txBody>
      </p:sp>
      <p:sp>
        <p:nvSpPr>
          <p:cNvPr id="17" name="Rectangle 16"/>
          <p:cNvSpPr/>
          <p:nvPr/>
        </p:nvSpPr>
        <p:spPr>
          <a:xfrm>
            <a:off x="2980944" y="2633472"/>
            <a:ext cx="1614830" cy="3657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816352" y="2761488"/>
            <a:ext cx="1980590" cy="3108960"/>
          </a:xfrm>
          <a:prstGeom prst="rect">
            <a:avLst/>
          </a:prstGeom>
          <a:noFill/>
        </p:spPr>
        <p:txBody>
          <a:bodyPr wrap="square">
            <a:spAutoFit/>
          </a:bodyPr>
          <a:lstStyle/>
          <a:p>
            <a:pPr algn="ctr"/>
            <a:r>
              <a:rPr sz="1000" b="0">
                <a:solidFill>
                  <a:srgbClr val="7A9A84"/>
                </a:solidFill>
                <a:latin typeface="Calibri"/>
              </a:rPr>
              <a:t>Canada aligns demographics planning for cross-border harmonization</a:t>
            </a:r>
          </a:p>
        </p:txBody>
      </p:sp>
      <p:sp>
        <p:nvSpPr>
          <p:cNvPr id="19" name="Rectangle 18"/>
          <p:cNvSpPr/>
          <p:nvPr/>
        </p:nvSpPr>
        <p:spPr>
          <a:xfrm>
            <a:off x="5038344" y="1133856"/>
            <a:ext cx="216347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01768" y="1097280"/>
            <a:ext cx="2163470" cy="502920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01768" y="1097280"/>
            <a:ext cx="2163470"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827471" y="1261872"/>
            <a:ext cx="512064" cy="512064"/>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3</a:t>
            </a:r>
          </a:p>
        </p:txBody>
      </p:sp>
      <p:sp>
        <p:nvSpPr>
          <p:cNvPr id="23" name="TextBox 22"/>
          <p:cNvSpPr txBox="1"/>
          <p:nvPr/>
        </p:nvSpPr>
        <p:spPr>
          <a:xfrm>
            <a:off x="5093208" y="1920240"/>
            <a:ext cx="1998878" cy="640080"/>
          </a:xfrm>
          <a:prstGeom prst="rect">
            <a:avLst/>
          </a:prstGeom>
          <a:noFill/>
        </p:spPr>
        <p:txBody>
          <a:bodyPr wrap="square">
            <a:spAutoFit/>
          </a:bodyPr>
          <a:lstStyle/>
          <a:p>
            <a:pPr algn="ctr"/>
            <a:r>
              <a:rPr sz="1200" b="1">
                <a:solidFill>
                  <a:srgbClr val="1E3A2F"/>
                </a:solidFill>
                <a:latin typeface="Calibri"/>
              </a:rPr>
              <a:t>Current State</a:t>
            </a:r>
          </a:p>
        </p:txBody>
      </p:sp>
      <p:sp>
        <p:nvSpPr>
          <p:cNvPr id="24" name="Rectangle 23"/>
          <p:cNvSpPr/>
          <p:nvPr/>
        </p:nvSpPr>
        <p:spPr>
          <a:xfrm>
            <a:off x="5276088" y="2633472"/>
            <a:ext cx="1614830" cy="3657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11496" y="2761488"/>
            <a:ext cx="1980590" cy="3108960"/>
          </a:xfrm>
          <a:prstGeom prst="rect">
            <a:avLst/>
          </a:prstGeom>
          <a:noFill/>
        </p:spPr>
        <p:txBody>
          <a:bodyPr wrap="square">
            <a:spAutoFit/>
          </a:bodyPr>
          <a:lstStyle/>
          <a:p>
            <a:pPr algn="ctr"/>
            <a:r>
              <a:rPr sz="1000" b="0">
                <a:solidFill>
                  <a:srgbClr val="7A9A84"/>
                </a:solidFill>
                <a:latin typeface="Calibri"/>
              </a:rPr>
              <a:t>Sponsors prioritize enrollment goals via epidemiological data</a:t>
            </a:r>
          </a:p>
        </p:txBody>
      </p:sp>
      <p:sp>
        <p:nvSpPr>
          <p:cNvPr id="26" name="Rectangle 25"/>
          <p:cNvSpPr/>
          <p:nvPr/>
        </p:nvSpPr>
        <p:spPr>
          <a:xfrm>
            <a:off x="7333488" y="1133856"/>
            <a:ext cx="216347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96912" y="1097280"/>
            <a:ext cx="2163470" cy="502920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296912" y="1097280"/>
            <a:ext cx="2163470" cy="914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122615" y="1261872"/>
            <a:ext cx="512064" cy="512064"/>
          </a:xfrm>
          <a:prstGeom prst="ellipse">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4</a:t>
            </a:r>
          </a:p>
        </p:txBody>
      </p:sp>
      <p:sp>
        <p:nvSpPr>
          <p:cNvPr id="30" name="TextBox 29"/>
          <p:cNvSpPr txBox="1"/>
          <p:nvPr/>
        </p:nvSpPr>
        <p:spPr>
          <a:xfrm>
            <a:off x="7388352" y="1920240"/>
            <a:ext cx="1998878" cy="640080"/>
          </a:xfrm>
          <a:prstGeom prst="rect">
            <a:avLst/>
          </a:prstGeom>
          <a:noFill/>
        </p:spPr>
        <p:txBody>
          <a:bodyPr wrap="square">
            <a:spAutoFit/>
          </a:bodyPr>
          <a:lstStyle/>
          <a:p>
            <a:pPr algn="ctr"/>
            <a:r>
              <a:rPr sz="1200" b="1">
                <a:solidFill>
                  <a:srgbClr val="1E3A2F"/>
                </a:solidFill>
                <a:latin typeface="Calibri"/>
              </a:rPr>
              <a:t>Industry Response</a:t>
            </a:r>
          </a:p>
        </p:txBody>
      </p:sp>
      <p:sp>
        <p:nvSpPr>
          <p:cNvPr id="31" name="Rectangle 30"/>
          <p:cNvSpPr/>
          <p:nvPr/>
        </p:nvSpPr>
        <p:spPr>
          <a:xfrm>
            <a:off x="7571232" y="2633472"/>
            <a:ext cx="1614830" cy="3657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06640" y="2761488"/>
            <a:ext cx="1980590" cy="3108960"/>
          </a:xfrm>
          <a:prstGeom prst="rect">
            <a:avLst/>
          </a:prstGeom>
          <a:noFill/>
        </p:spPr>
        <p:txBody>
          <a:bodyPr wrap="square">
            <a:spAutoFit/>
          </a:bodyPr>
          <a:lstStyle/>
          <a:p>
            <a:pPr algn="ctr"/>
            <a:r>
              <a:rPr sz="1000" b="0">
                <a:solidFill>
                  <a:srgbClr val="7A9A84"/>
                </a:solidFill>
                <a:latin typeface="Calibri"/>
              </a:rPr>
              <a:t>AI-driven eligibility and shared infrastructure reduce burdens and costs</a:t>
            </a:r>
          </a:p>
        </p:txBody>
      </p:sp>
      <p:sp>
        <p:nvSpPr>
          <p:cNvPr id="33" name="Rectangle 32"/>
          <p:cNvSpPr/>
          <p:nvPr/>
        </p:nvSpPr>
        <p:spPr>
          <a:xfrm>
            <a:off x="9628632" y="1133856"/>
            <a:ext cx="2163470" cy="502920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592056" y="1097280"/>
            <a:ext cx="2163470" cy="5029200"/>
          </a:xfrm>
          <a:prstGeom prst="rect">
            <a:avLst/>
          </a:prstGeom>
          <a:solidFill>
            <a:srgbClr val="FFFFFF"/>
          </a:solidFill>
          <a:ln w="1270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92056" y="1097280"/>
            <a:ext cx="2163470"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0417759" y="1261872"/>
            <a:ext cx="512064" cy="512064"/>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Calibri"/>
              </a:rPr>
              <a:t>5</a:t>
            </a:r>
          </a:p>
        </p:txBody>
      </p:sp>
      <p:sp>
        <p:nvSpPr>
          <p:cNvPr id="37" name="TextBox 36"/>
          <p:cNvSpPr txBox="1"/>
          <p:nvPr/>
        </p:nvSpPr>
        <p:spPr>
          <a:xfrm>
            <a:off x="9683496" y="1920240"/>
            <a:ext cx="1998878" cy="640080"/>
          </a:xfrm>
          <a:prstGeom prst="rect">
            <a:avLst/>
          </a:prstGeom>
          <a:noFill/>
        </p:spPr>
        <p:txBody>
          <a:bodyPr wrap="square">
            <a:spAutoFit/>
          </a:bodyPr>
          <a:lstStyle/>
          <a:p>
            <a:pPr algn="ctr"/>
            <a:r>
              <a:rPr sz="1200" b="1">
                <a:solidFill>
                  <a:srgbClr val="1E3A2F"/>
                </a:solidFill>
                <a:latin typeface="Calibri"/>
              </a:rPr>
              <a:t>Conclusion</a:t>
            </a:r>
          </a:p>
        </p:txBody>
      </p:sp>
      <p:sp>
        <p:nvSpPr>
          <p:cNvPr id="38" name="Rectangle 37"/>
          <p:cNvSpPr/>
          <p:nvPr/>
        </p:nvSpPr>
        <p:spPr>
          <a:xfrm>
            <a:off x="9866376" y="2633472"/>
            <a:ext cx="1614830" cy="3657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701784" y="2761488"/>
            <a:ext cx="1980590" cy="3108960"/>
          </a:xfrm>
          <a:prstGeom prst="rect">
            <a:avLst/>
          </a:prstGeom>
          <a:noFill/>
        </p:spPr>
        <p:txBody>
          <a:bodyPr wrap="square">
            <a:spAutoFit/>
          </a:bodyPr>
          <a:lstStyle/>
          <a:p>
            <a:pPr algn="ctr"/>
            <a:r>
              <a:rPr sz="1000" b="0">
                <a:solidFill>
                  <a:srgbClr val="7A9A84"/>
                </a:solidFill>
                <a:latin typeface="Calibri"/>
              </a:rPr>
              <a:t>A phased roadmap guides regulators and sponsors through diversity implementation</a:t>
            </a:r>
          </a:p>
        </p:txBody>
      </p:sp>
      <p:sp>
        <p:nvSpPr>
          <p:cNvPr id="40" name="TextBox 39"/>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91440" y="0"/>
            <a:ext cx="3749039" cy="6858000"/>
          </a:xfrm>
          <a:prstGeom prst="rect">
            <a:avLst/>
          </a:prstGeom>
        </p:spPr>
      </p:pic>
      <p:sp>
        <p:nvSpPr>
          <p:cNvPr id="5" name="Rectangle 4"/>
          <p:cNvSpPr/>
          <p:nvPr/>
        </p:nvSpPr>
        <p:spPr>
          <a:solidFill>
            <a:srgbClr val="1E3A2F">
              <a:alpha val="62745"/>
            </a:srgbClr>
          </a:solidFill>
          <a:xfrm>
            <a:off x="91440" y="0"/>
            <a:ext cx="3749039"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14400"/>
            <a:ext cx="3383280" cy="2560320"/>
          </a:xfrm>
          <a:prstGeom prst="rect">
            <a:avLst/>
          </a:prstGeom>
          <a:noFill/>
        </p:spPr>
        <p:txBody>
          <a:bodyPr wrap="square">
            <a:spAutoFit/>
          </a:bodyPr>
          <a:lstStyle/>
          <a:p>
            <a:pPr algn="l"/>
            <a:r>
              <a:rPr sz="2600" b="1">
                <a:solidFill>
                  <a:srgbClr val="FFFFFF"/>
                </a:solidFill>
                <a:latin typeface="Calibri"/>
              </a:rPr>
              <a:t>Introduction to FDA Diversity Requirements</a:t>
            </a:r>
          </a:p>
        </p:txBody>
      </p:sp>
      <p:sp>
        <p:nvSpPr>
          <p:cNvPr id="7" name="Rectangle 6"/>
          <p:cNvSpPr/>
          <p:nvPr/>
        </p:nvSpPr>
        <p:spPr>
          <a:xfrm>
            <a:off x="4114800" y="137160"/>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0" y="137160"/>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40" y="513892"/>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1</a:t>
            </a:r>
          </a:p>
        </p:txBody>
      </p:sp>
      <p:sp>
        <p:nvSpPr>
          <p:cNvPr id="10" name="TextBox 9"/>
          <p:cNvSpPr txBox="1"/>
          <p:nvPr/>
        </p:nvSpPr>
        <p:spPr>
          <a:xfrm>
            <a:off x="4800600" y="210312"/>
            <a:ext cx="7068312" cy="347472"/>
          </a:xfrm>
          <a:prstGeom prst="rect">
            <a:avLst/>
          </a:prstGeom>
          <a:noFill/>
        </p:spPr>
        <p:txBody>
          <a:bodyPr wrap="square">
            <a:spAutoFit/>
          </a:bodyPr>
          <a:lstStyle/>
          <a:p>
            <a:pPr algn="l"/>
            <a:r>
              <a:rPr sz="1300" b="1">
                <a:solidFill>
                  <a:srgbClr val="4A7C59"/>
                </a:solidFill>
                <a:latin typeface="Calibri"/>
              </a:rPr>
              <a:t>Regulatory Framework</a:t>
            </a:r>
          </a:p>
        </p:txBody>
      </p:sp>
      <p:sp>
        <p:nvSpPr>
          <p:cNvPr id="11" name="TextBox 10"/>
          <p:cNvSpPr txBox="1"/>
          <p:nvPr/>
        </p:nvSpPr>
        <p:spPr>
          <a:xfrm>
            <a:off x="4800600" y="521208"/>
            <a:ext cx="7068312" cy="771753"/>
          </a:xfrm>
          <a:prstGeom prst="rect">
            <a:avLst/>
          </a:prstGeom>
          <a:noFill/>
        </p:spPr>
        <p:txBody>
          <a:bodyPr wrap="square">
            <a:spAutoFit/>
          </a:bodyPr>
          <a:lstStyle/>
          <a:p>
            <a:pPr algn="l"/>
            <a:r>
              <a:rPr sz="1100" b="0">
                <a:solidFill>
                  <a:srgbClr val="1E3A2F"/>
                </a:solidFill>
                <a:latin typeface="Calibri"/>
              </a:rPr>
              <a:t>FDA's diversity requirements for clinical trials</a:t>
            </a:r>
          </a:p>
        </p:txBody>
      </p:sp>
      <p:sp>
        <p:nvSpPr>
          <p:cNvPr id="12" name="Rectangle 11"/>
          <p:cNvSpPr/>
          <p:nvPr/>
        </p:nvSpPr>
        <p:spPr>
          <a:xfrm>
            <a:off x="4114800" y="1475841"/>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1475841"/>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06240" y="1852574"/>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2</a:t>
            </a:r>
          </a:p>
        </p:txBody>
      </p:sp>
      <p:sp>
        <p:nvSpPr>
          <p:cNvPr id="15" name="TextBox 14"/>
          <p:cNvSpPr txBox="1"/>
          <p:nvPr/>
        </p:nvSpPr>
        <p:spPr>
          <a:xfrm>
            <a:off x="4800600" y="1548993"/>
            <a:ext cx="7068312" cy="347472"/>
          </a:xfrm>
          <a:prstGeom prst="rect">
            <a:avLst/>
          </a:prstGeom>
          <a:noFill/>
        </p:spPr>
        <p:txBody>
          <a:bodyPr wrap="square">
            <a:spAutoFit/>
          </a:bodyPr>
          <a:lstStyle/>
          <a:p>
            <a:pPr algn="l"/>
            <a:r>
              <a:rPr sz="1300" b="1">
                <a:solidFill>
                  <a:srgbClr val="4A7C59"/>
                </a:solidFill>
                <a:latin typeface="Calibri"/>
              </a:rPr>
              <a:t>Historical Development</a:t>
            </a:r>
          </a:p>
        </p:txBody>
      </p:sp>
      <p:sp>
        <p:nvSpPr>
          <p:cNvPr id="16" name="TextBox 15"/>
          <p:cNvSpPr txBox="1"/>
          <p:nvPr/>
        </p:nvSpPr>
        <p:spPr>
          <a:xfrm>
            <a:off x="4800600" y="1859889"/>
            <a:ext cx="7068312" cy="771753"/>
          </a:xfrm>
          <a:prstGeom prst="rect">
            <a:avLst/>
          </a:prstGeom>
          <a:noFill/>
        </p:spPr>
        <p:txBody>
          <a:bodyPr wrap="square">
            <a:spAutoFit/>
          </a:bodyPr>
          <a:lstStyle/>
          <a:p>
            <a:pPr algn="l"/>
            <a:r>
              <a:rPr sz="1100" b="0">
                <a:solidFill>
                  <a:srgbClr val="1E3A2F"/>
                </a:solidFill>
                <a:latin typeface="Calibri"/>
              </a:rPr>
              <a:t>Evolution of FDA diversity guidelines</a:t>
            </a:r>
          </a:p>
        </p:txBody>
      </p:sp>
      <p:sp>
        <p:nvSpPr>
          <p:cNvPr id="17" name="Rectangle 16"/>
          <p:cNvSpPr/>
          <p:nvPr/>
        </p:nvSpPr>
        <p:spPr>
          <a:xfrm>
            <a:off x="4114800" y="2814523"/>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0" y="2814523"/>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06240" y="3191256"/>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3</a:t>
            </a:r>
          </a:p>
        </p:txBody>
      </p:sp>
      <p:sp>
        <p:nvSpPr>
          <p:cNvPr id="20" name="TextBox 19"/>
          <p:cNvSpPr txBox="1"/>
          <p:nvPr/>
        </p:nvSpPr>
        <p:spPr>
          <a:xfrm>
            <a:off x="4800600" y="2887675"/>
            <a:ext cx="7068312" cy="347472"/>
          </a:xfrm>
          <a:prstGeom prst="rect">
            <a:avLst/>
          </a:prstGeom>
          <a:noFill/>
        </p:spPr>
        <p:txBody>
          <a:bodyPr wrap="square">
            <a:spAutoFit/>
          </a:bodyPr>
          <a:lstStyle/>
          <a:p>
            <a:pPr algn="l"/>
            <a:r>
              <a:rPr sz="1300" b="1">
                <a:solidFill>
                  <a:srgbClr val="4A7C59"/>
                </a:solidFill>
                <a:latin typeface="Calibri"/>
              </a:rPr>
              <a:t>Current State</a:t>
            </a:r>
          </a:p>
        </p:txBody>
      </p:sp>
      <p:sp>
        <p:nvSpPr>
          <p:cNvPr id="21" name="TextBox 20"/>
          <p:cNvSpPr txBox="1"/>
          <p:nvPr/>
        </p:nvSpPr>
        <p:spPr>
          <a:xfrm>
            <a:off x="4800600" y="3198571"/>
            <a:ext cx="7068312" cy="771753"/>
          </a:xfrm>
          <a:prstGeom prst="rect">
            <a:avLst/>
          </a:prstGeom>
          <a:noFill/>
        </p:spPr>
        <p:txBody>
          <a:bodyPr wrap="square">
            <a:spAutoFit/>
          </a:bodyPr>
          <a:lstStyle/>
          <a:p>
            <a:pPr algn="l"/>
            <a:r>
              <a:rPr sz="1100" b="0">
                <a:solidFill>
                  <a:srgbClr val="1E3A2F"/>
                </a:solidFill>
                <a:latin typeface="Calibri"/>
              </a:rPr>
              <a:t>FDA's regulatory framework for diversity in clinical trials</a:t>
            </a:r>
          </a:p>
        </p:txBody>
      </p:sp>
      <p:sp>
        <p:nvSpPr>
          <p:cNvPr id="22" name="Rectangle 21"/>
          <p:cNvSpPr/>
          <p:nvPr/>
        </p:nvSpPr>
        <p:spPr>
          <a:xfrm>
            <a:off x="4114800" y="4153204"/>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0" y="4153204"/>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06240" y="4529937"/>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4</a:t>
            </a:r>
          </a:p>
        </p:txBody>
      </p:sp>
      <p:sp>
        <p:nvSpPr>
          <p:cNvPr id="25" name="TextBox 24"/>
          <p:cNvSpPr txBox="1"/>
          <p:nvPr/>
        </p:nvSpPr>
        <p:spPr>
          <a:xfrm>
            <a:off x="4800600" y="4226356"/>
            <a:ext cx="7068312" cy="347472"/>
          </a:xfrm>
          <a:prstGeom prst="rect">
            <a:avLst/>
          </a:prstGeom>
          <a:noFill/>
        </p:spPr>
        <p:txBody>
          <a:bodyPr wrap="square">
            <a:spAutoFit/>
          </a:bodyPr>
          <a:lstStyle/>
          <a:p>
            <a:pPr algn="l"/>
            <a:r>
              <a:rPr sz="1300" b="1">
                <a:solidFill>
                  <a:srgbClr val="4A7C59"/>
                </a:solidFill>
                <a:latin typeface="Calibri"/>
              </a:rPr>
              <a:t>Industry Response</a:t>
            </a:r>
          </a:p>
        </p:txBody>
      </p:sp>
      <p:sp>
        <p:nvSpPr>
          <p:cNvPr id="26" name="TextBox 25"/>
          <p:cNvSpPr txBox="1"/>
          <p:nvPr/>
        </p:nvSpPr>
        <p:spPr>
          <a:xfrm>
            <a:off x="4800600" y="4537252"/>
            <a:ext cx="7068312" cy="771753"/>
          </a:xfrm>
          <a:prstGeom prst="rect">
            <a:avLst/>
          </a:prstGeom>
          <a:noFill/>
        </p:spPr>
        <p:txBody>
          <a:bodyPr wrap="square">
            <a:spAutoFit/>
          </a:bodyPr>
          <a:lstStyle/>
          <a:p>
            <a:pPr algn="l"/>
            <a:r>
              <a:rPr sz="1100" b="0">
                <a:solidFill>
                  <a:srgbClr val="1E3A2F"/>
                </a:solidFill>
                <a:latin typeface="Calibri"/>
              </a:rPr>
              <a:t>Sponsors' response to FDA diversity mandates</a:t>
            </a:r>
          </a:p>
        </p:txBody>
      </p:sp>
      <p:sp>
        <p:nvSpPr>
          <p:cNvPr id="27" name="Rectangle 26"/>
          <p:cNvSpPr/>
          <p:nvPr/>
        </p:nvSpPr>
        <p:spPr>
          <a:xfrm>
            <a:off x="4114800" y="5491886"/>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0" y="5491886"/>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06240" y="5868619"/>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5</a:t>
            </a:r>
          </a:p>
        </p:txBody>
      </p:sp>
      <p:sp>
        <p:nvSpPr>
          <p:cNvPr id="30" name="TextBox 29"/>
          <p:cNvSpPr txBox="1"/>
          <p:nvPr/>
        </p:nvSpPr>
        <p:spPr>
          <a:xfrm>
            <a:off x="4800600" y="5565038"/>
            <a:ext cx="7068312" cy="347472"/>
          </a:xfrm>
          <a:prstGeom prst="rect">
            <a:avLst/>
          </a:prstGeom>
          <a:noFill/>
        </p:spPr>
        <p:txBody>
          <a:bodyPr wrap="square">
            <a:spAutoFit/>
          </a:bodyPr>
          <a:lstStyle/>
          <a:p>
            <a:pPr algn="l"/>
            <a:r>
              <a:rPr sz="1300" b="1">
                <a:solidFill>
                  <a:srgbClr val="4A7C59"/>
                </a:solidFill>
                <a:latin typeface="Calibri"/>
              </a:rPr>
              <a:t>Conclusion</a:t>
            </a:r>
          </a:p>
        </p:txBody>
      </p:sp>
      <p:sp>
        <p:nvSpPr>
          <p:cNvPr id="31" name="TextBox 30"/>
          <p:cNvSpPr txBox="1"/>
          <p:nvPr/>
        </p:nvSpPr>
        <p:spPr>
          <a:xfrm>
            <a:off x="4800600" y="5875934"/>
            <a:ext cx="7068312" cy="771753"/>
          </a:xfrm>
          <a:prstGeom prst="rect">
            <a:avLst/>
          </a:prstGeom>
          <a:noFill/>
        </p:spPr>
        <p:txBody>
          <a:bodyPr wrap="square">
            <a:spAutoFit/>
          </a:bodyPr>
          <a:lstStyle/>
          <a:p>
            <a:pPr algn="l"/>
            <a:r>
              <a:rPr sz="1100" b="0">
                <a:solidFill>
                  <a:srgbClr val="1E3A2F"/>
                </a:solidFill>
                <a:latin typeface="Calibri"/>
              </a:rPr>
              <a:t>Importance of diversity in clinical trials</a:t>
            </a:r>
          </a:p>
        </p:txBody>
      </p:sp>
      <p:sp>
        <p:nvSpPr>
          <p:cNvPr id="32" name="TextBox 31"/>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0058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10058400" cy="731520"/>
          </a:xfrm>
          <a:prstGeom prst="rect">
            <a:avLst/>
          </a:prstGeom>
          <a:noFill/>
        </p:spPr>
        <p:txBody>
          <a:bodyPr wrap="square">
            <a:spAutoFit/>
          </a:bodyPr>
          <a:lstStyle/>
          <a:p>
            <a:pPr algn="l"/>
            <a:r>
              <a:rPr sz="2400" b="1">
                <a:solidFill>
                  <a:srgbClr val="FFFFFF"/>
                </a:solidFill>
                <a:latin typeface="Calibri"/>
              </a:rPr>
              <a:t>Key Statistics</a:t>
            </a:r>
          </a:p>
        </p:txBody>
      </p:sp>
      <p:sp>
        <p:nvSpPr>
          <p:cNvPr id="5" name="Rectangle 4"/>
          <p:cNvSpPr/>
          <p:nvPr/>
        </p:nvSpPr>
        <p:spPr>
          <a:xfrm>
            <a:off x="502920" y="1143000"/>
            <a:ext cx="2681478" cy="5029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097280"/>
            <a:ext cx="2681478" cy="5029200"/>
          </a:xfrm>
          <a:prstGeom prst="rect">
            <a:avLst/>
          </a:prstGeom>
          <a:solidFill>
            <a:srgbClr val="F0F4F1"/>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097280"/>
            <a:ext cx="2681478" cy="109728"/>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298448"/>
            <a:ext cx="2544318" cy="457200"/>
          </a:xfrm>
          <a:prstGeom prst="rect">
            <a:avLst/>
          </a:prstGeom>
          <a:noFill/>
        </p:spPr>
        <p:txBody>
          <a:bodyPr wrap="square">
            <a:spAutoFit/>
          </a:bodyPr>
          <a:lstStyle/>
          <a:p>
            <a:pPr algn="ctr"/>
            <a:r>
              <a:rPr sz="1100" b="1">
                <a:solidFill>
                  <a:srgbClr val="7A9A84"/>
                </a:solidFill>
                <a:latin typeface="Calibri"/>
              </a:rPr>
              <a:t>ENROLLMENT RATE</a:t>
            </a:r>
          </a:p>
        </p:txBody>
      </p:sp>
      <p:sp>
        <p:nvSpPr>
          <p:cNvPr id="9" name="Rectangle 8"/>
          <p:cNvSpPr/>
          <p:nvPr/>
        </p:nvSpPr>
        <p:spPr>
          <a:xfrm>
            <a:off x="731520" y="1828800"/>
            <a:ext cx="2132838"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1874520"/>
            <a:ext cx="2635758" cy="1645920"/>
          </a:xfrm>
          <a:prstGeom prst="rect">
            <a:avLst/>
          </a:prstGeom>
          <a:noFill/>
        </p:spPr>
        <p:txBody>
          <a:bodyPr wrap="square">
            <a:spAutoFit/>
          </a:bodyPr>
          <a:lstStyle/>
          <a:p>
            <a:pPr algn="ctr"/>
            <a:r>
              <a:rPr sz="2600" b="1">
                <a:solidFill>
                  <a:srgbClr val="4A7C59"/>
                </a:solidFill>
                <a:latin typeface="Calibri"/>
              </a:rPr>
              <a:t>20.0%</a:t>
            </a:r>
          </a:p>
        </p:txBody>
      </p:sp>
      <p:sp>
        <p:nvSpPr>
          <p:cNvPr id="11" name="Rectangle 10"/>
          <p:cNvSpPr/>
          <p:nvPr/>
        </p:nvSpPr>
        <p:spPr>
          <a:xfrm>
            <a:off x="685800" y="3566160"/>
            <a:ext cx="226999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566160"/>
            <a:ext cx="1702498"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794760"/>
            <a:ext cx="2544318" cy="2103120"/>
          </a:xfrm>
          <a:prstGeom prst="rect">
            <a:avLst/>
          </a:prstGeom>
          <a:noFill/>
        </p:spPr>
        <p:txBody>
          <a:bodyPr wrap="square">
            <a:spAutoFit/>
          </a:bodyPr>
          <a:lstStyle/>
          <a:p>
            <a:pPr algn="ctr"/>
            <a:r>
              <a:rPr sz="1100" b="0">
                <a:solidFill>
                  <a:srgbClr val="1E3A2F"/>
                </a:solidFill>
                <a:latin typeface="Calibri"/>
              </a:rPr>
              <a:t>increase in enrollment rate for diverse populations</a:t>
            </a:r>
          </a:p>
        </p:txBody>
      </p:sp>
      <p:sp>
        <p:nvSpPr>
          <p:cNvPr id="14" name="Rectangle 13"/>
          <p:cNvSpPr/>
          <p:nvPr/>
        </p:nvSpPr>
        <p:spPr>
          <a:xfrm>
            <a:off x="3321558" y="1143000"/>
            <a:ext cx="2681478" cy="5029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75838" y="1097280"/>
            <a:ext cx="2681478" cy="50292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75838" y="1097280"/>
            <a:ext cx="2681478" cy="109728"/>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7278" y="1298448"/>
            <a:ext cx="2544318" cy="457200"/>
          </a:xfrm>
          <a:prstGeom prst="rect">
            <a:avLst/>
          </a:prstGeom>
          <a:noFill/>
        </p:spPr>
        <p:txBody>
          <a:bodyPr wrap="square">
            <a:spAutoFit/>
          </a:bodyPr>
          <a:lstStyle/>
          <a:p>
            <a:pPr algn="ctr"/>
            <a:r>
              <a:rPr sz="1100" b="1">
                <a:solidFill>
                  <a:srgbClr val="7A9A84"/>
                </a:solidFill>
                <a:latin typeface="Calibri"/>
              </a:rPr>
              <a:t>COMPLIANCE RATE</a:t>
            </a:r>
          </a:p>
        </p:txBody>
      </p:sp>
      <p:sp>
        <p:nvSpPr>
          <p:cNvPr id="18" name="Rectangle 17"/>
          <p:cNvSpPr/>
          <p:nvPr/>
        </p:nvSpPr>
        <p:spPr>
          <a:xfrm>
            <a:off x="3550158" y="1828800"/>
            <a:ext cx="2132838"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48990" y="1874520"/>
            <a:ext cx="2635758" cy="1645920"/>
          </a:xfrm>
          <a:prstGeom prst="rect">
            <a:avLst/>
          </a:prstGeom>
          <a:noFill/>
        </p:spPr>
        <p:txBody>
          <a:bodyPr wrap="square">
            <a:spAutoFit/>
          </a:bodyPr>
          <a:lstStyle/>
          <a:p>
            <a:pPr algn="ctr"/>
            <a:r>
              <a:rPr sz="2600" b="1">
                <a:solidFill>
                  <a:srgbClr val="4A7C59"/>
                </a:solidFill>
                <a:latin typeface="Calibri"/>
              </a:rPr>
              <a:t>5.0%</a:t>
            </a:r>
          </a:p>
        </p:txBody>
      </p:sp>
      <p:sp>
        <p:nvSpPr>
          <p:cNvPr id="20" name="Rectangle 19"/>
          <p:cNvSpPr/>
          <p:nvPr/>
        </p:nvSpPr>
        <p:spPr>
          <a:xfrm>
            <a:off x="3504438" y="3566160"/>
            <a:ext cx="226999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504438" y="3566160"/>
            <a:ext cx="1475498"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67278" y="3794760"/>
            <a:ext cx="2544318" cy="2103120"/>
          </a:xfrm>
          <a:prstGeom prst="rect">
            <a:avLst/>
          </a:prstGeom>
          <a:noFill/>
        </p:spPr>
        <p:txBody>
          <a:bodyPr wrap="square">
            <a:spAutoFit/>
          </a:bodyPr>
          <a:lstStyle/>
          <a:p>
            <a:pPr algn="ctr"/>
            <a:r>
              <a:rPr sz="1100" b="0">
                <a:solidFill>
                  <a:srgbClr val="1E3A2F"/>
                </a:solidFill>
                <a:latin typeface="Calibri"/>
              </a:rPr>
              <a:t>increase in compliance rate for sponsors</a:t>
            </a:r>
          </a:p>
        </p:txBody>
      </p:sp>
      <p:sp>
        <p:nvSpPr>
          <p:cNvPr id="23" name="Rectangle 22"/>
          <p:cNvSpPr/>
          <p:nvPr/>
        </p:nvSpPr>
        <p:spPr>
          <a:xfrm>
            <a:off x="6140196" y="1143000"/>
            <a:ext cx="2681478" cy="5029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094476" y="1097280"/>
            <a:ext cx="2681478" cy="5029200"/>
          </a:xfrm>
          <a:prstGeom prst="rect">
            <a:avLst/>
          </a:prstGeom>
          <a:solidFill>
            <a:srgbClr val="F0F4F1"/>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094476" y="1097280"/>
            <a:ext cx="2681478" cy="109728"/>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185916" y="1298448"/>
            <a:ext cx="2544318" cy="457200"/>
          </a:xfrm>
          <a:prstGeom prst="rect">
            <a:avLst/>
          </a:prstGeom>
          <a:noFill/>
        </p:spPr>
        <p:txBody>
          <a:bodyPr wrap="square">
            <a:spAutoFit/>
          </a:bodyPr>
          <a:lstStyle/>
          <a:p>
            <a:pPr algn="ctr"/>
            <a:r>
              <a:rPr sz="1100" b="1">
                <a:solidFill>
                  <a:srgbClr val="7A9A84"/>
                </a:solidFill>
                <a:latin typeface="Calibri"/>
              </a:rPr>
              <a:t>COST SAVINGS</a:t>
            </a:r>
          </a:p>
        </p:txBody>
      </p:sp>
      <p:sp>
        <p:nvSpPr>
          <p:cNvPr id="27" name="Rectangle 26"/>
          <p:cNvSpPr/>
          <p:nvPr/>
        </p:nvSpPr>
        <p:spPr>
          <a:xfrm>
            <a:off x="6368796" y="1828800"/>
            <a:ext cx="2132838"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167628" y="1874520"/>
            <a:ext cx="2635758" cy="1645920"/>
          </a:xfrm>
          <a:prstGeom prst="rect">
            <a:avLst/>
          </a:prstGeom>
          <a:noFill/>
        </p:spPr>
        <p:txBody>
          <a:bodyPr wrap="square">
            <a:spAutoFit/>
          </a:bodyPr>
          <a:lstStyle/>
          <a:p>
            <a:pPr algn="ctr"/>
            <a:r>
              <a:rPr sz="2600" b="1">
                <a:solidFill>
                  <a:srgbClr val="4A7C59"/>
                </a:solidFill>
                <a:latin typeface="Calibri"/>
              </a:rPr>
              <a:t>50.0%</a:t>
            </a:r>
          </a:p>
        </p:txBody>
      </p:sp>
      <p:sp>
        <p:nvSpPr>
          <p:cNvPr id="29" name="Rectangle 28"/>
          <p:cNvSpPr/>
          <p:nvPr/>
        </p:nvSpPr>
        <p:spPr>
          <a:xfrm>
            <a:off x="6323076" y="3566160"/>
            <a:ext cx="226999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23076" y="3566160"/>
            <a:ext cx="1248498"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85916" y="3794760"/>
            <a:ext cx="2544318" cy="2103120"/>
          </a:xfrm>
          <a:prstGeom prst="rect">
            <a:avLst/>
          </a:prstGeom>
          <a:noFill/>
        </p:spPr>
        <p:txBody>
          <a:bodyPr wrap="square">
            <a:spAutoFit/>
          </a:bodyPr>
          <a:lstStyle/>
          <a:p>
            <a:pPr algn="ctr"/>
            <a:r>
              <a:rPr sz="1100" b="0">
                <a:solidFill>
                  <a:srgbClr val="1E3A2F"/>
                </a:solidFill>
                <a:latin typeface="Calibri"/>
              </a:rPr>
              <a:t>reduction in costs for sponsors through diverse recruitment</a:t>
            </a:r>
          </a:p>
        </p:txBody>
      </p:sp>
      <p:sp>
        <p:nvSpPr>
          <p:cNvPr id="32" name="Rectangle 31"/>
          <p:cNvSpPr/>
          <p:nvPr/>
        </p:nvSpPr>
        <p:spPr>
          <a:xfrm>
            <a:off x="8958834" y="1143000"/>
            <a:ext cx="2681478" cy="50292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913114" y="1097280"/>
            <a:ext cx="2681478" cy="50292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13114" y="1097280"/>
            <a:ext cx="2681478" cy="109728"/>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004554" y="1298448"/>
            <a:ext cx="2544318" cy="457200"/>
          </a:xfrm>
          <a:prstGeom prst="rect">
            <a:avLst/>
          </a:prstGeom>
          <a:noFill/>
        </p:spPr>
        <p:txBody>
          <a:bodyPr wrap="square">
            <a:spAutoFit/>
          </a:bodyPr>
          <a:lstStyle/>
          <a:p>
            <a:pPr algn="ctr"/>
            <a:r>
              <a:rPr sz="1100" b="1">
                <a:solidFill>
                  <a:srgbClr val="7A9A84"/>
                </a:solidFill>
                <a:latin typeface="Calibri"/>
              </a:rPr>
              <a:t>REGULATORY RISK</a:t>
            </a:r>
          </a:p>
        </p:txBody>
      </p:sp>
      <p:sp>
        <p:nvSpPr>
          <p:cNvPr id="36" name="Rectangle 35"/>
          <p:cNvSpPr/>
          <p:nvPr/>
        </p:nvSpPr>
        <p:spPr>
          <a:xfrm>
            <a:off x="9187434" y="1828800"/>
            <a:ext cx="2132838" cy="36576"/>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986266" y="1874520"/>
            <a:ext cx="2635758" cy="1645920"/>
          </a:xfrm>
          <a:prstGeom prst="rect">
            <a:avLst/>
          </a:prstGeom>
          <a:noFill/>
        </p:spPr>
        <p:txBody>
          <a:bodyPr wrap="square">
            <a:spAutoFit/>
          </a:bodyPr>
          <a:lstStyle/>
          <a:p>
            <a:pPr algn="ctr"/>
            <a:r>
              <a:rPr sz="2600" b="1">
                <a:solidFill>
                  <a:srgbClr val="4A7C59"/>
                </a:solidFill>
                <a:latin typeface="Calibri"/>
              </a:rPr>
              <a:t>10.0%</a:t>
            </a:r>
          </a:p>
        </p:txBody>
      </p:sp>
      <p:sp>
        <p:nvSpPr>
          <p:cNvPr id="38" name="Rectangle 37"/>
          <p:cNvSpPr/>
          <p:nvPr/>
        </p:nvSpPr>
        <p:spPr>
          <a:xfrm>
            <a:off x="9141714" y="3566160"/>
            <a:ext cx="2269998" cy="91440"/>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141714" y="3566160"/>
            <a:ext cx="1021499" cy="914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004554" y="3794760"/>
            <a:ext cx="2544318" cy="2103120"/>
          </a:xfrm>
          <a:prstGeom prst="rect">
            <a:avLst/>
          </a:prstGeom>
          <a:noFill/>
        </p:spPr>
        <p:txBody>
          <a:bodyPr wrap="square">
            <a:spAutoFit/>
          </a:bodyPr>
          <a:lstStyle/>
          <a:p>
            <a:pPr algn="ctr"/>
            <a:r>
              <a:rPr sz="1100" b="0">
                <a:solidFill>
                  <a:srgbClr val="1E3A2F"/>
                </a:solidFill>
                <a:latin typeface="Calibri"/>
              </a:rPr>
              <a:t>decrease in regulatory risk for sponsors</a:t>
            </a:r>
          </a:p>
        </p:txBody>
      </p:sp>
      <p:sp>
        <p:nvSpPr>
          <p:cNvPr id="41" name="TextBox 40"/>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0058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10058400" cy="731520"/>
          </a:xfrm>
          <a:prstGeom prst="rect">
            <a:avLst/>
          </a:prstGeom>
          <a:noFill/>
        </p:spPr>
        <p:txBody>
          <a:bodyPr wrap="square">
            <a:spAutoFit/>
          </a:bodyPr>
          <a:lstStyle/>
          <a:p>
            <a:pPr algn="l"/>
            <a:r>
              <a:rPr sz="2400" b="1">
                <a:solidFill>
                  <a:srgbClr val="FFFFFF"/>
                </a:solidFill>
                <a:latin typeface="Calibri"/>
              </a:rPr>
              <a:t>Key FDA Diversity Related Policy Instruments and Dates</a:t>
            </a:r>
          </a:p>
        </p:txBody>
      </p:sp>
      <p:sp>
        <p:nvSpPr>
          <p:cNvPr id="5" name="Rectangle 4"/>
          <p:cNvSpPr/>
          <p:nvPr/>
        </p:nvSpPr>
        <p:spPr>
          <a:xfrm>
            <a:off x="365760" y="1143000"/>
            <a:ext cx="2864358" cy="59436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2727198" cy="502920"/>
          </a:xfrm>
          <a:prstGeom prst="rect">
            <a:avLst/>
          </a:prstGeom>
          <a:noFill/>
        </p:spPr>
        <p:txBody>
          <a:bodyPr wrap="square">
            <a:spAutoFit/>
          </a:bodyPr>
          <a:lstStyle/>
          <a:p>
            <a:pPr algn="l"/>
            <a:r>
              <a:rPr sz="1100" b="1">
                <a:solidFill>
                  <a:srgbClr val="FFFFFF"/>
                </a:solidFill>
                <a:latin typeface="Calibri"/>
              </a:rPr>
              <a:t>INSTRUMENT OR POLICY ITEM</a:t>
            </a:r>
          </a:p>
        </p:txBody>
      </p:sp>
      <p:sp>
        <p:nvSpPr>
          <p:cNvPr id="7" name="Rectangle 6"/>
          <p:cNvSpPr/>
          <p:nvPr/>
        </p:nvSpPr>
        <p:spPr>
          <a:xfrm>
            <a:off x="3230118" y="1143000"/>
            <a:ext cx="2864358" cy="59436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21558" y="1234440"/>
            <a:ext cx="2727198" cy="502920"/>
          </a:xfrm>
          <a:prstGeom prst="rect">
            <a:avLst/>
          </a:prstGeom>
          <a:noFill/>
        </p:spPr>
        <p:txBody>
          <a:bodyPr wrap="square">
            <a:spAutoFit/>
          </a:bodyPr>
          <a:lstStyle/>
          <a:p>
            <a:pPr algn="l"/>
            <a:r>
              <a:rPr sz="1100" b="1">
                <a:solidFill>
                  <a:srgbClr val="FFFFFF"/>
                </a:solidFill>
                <a:latin typeface="Calibri"/>
              </a:rPr>
              <a:t>FDA STATUS</a:t>
            </a:r>
          </a:p>
        </p:txBody>
      </p:sp>
      <p:sp>
        <p:nvSpPr>
          <p:cNvPr id="9" name="Rectangle 8"/>
          <p:cNvSpPr/>
          <p:nvPr/>
        </p:nvSpPr>
        <p:spPr>
          <a:xfrm>
            <a:off x="6094476" y="1143000"/>
            <a:ext cx="2864358" cy="59436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85916" y="1234440"/>
            <a:ext cx="2727198" cy="502920"/>
          </a:xfrm>
          <a:prstGeom prst="rect">
            <a:avLst/>
          </a:prstGeom>
          <a:noFill/>
        </p:spPr>
        <p:txBody>
          <a:bodyPr wrap="square">
            <a:spAutoFit/>
          </a:bodyPr>
          <a:lstStyle/>
          <a:p>
            <a:pPr algn="l"/>
            <a:r>
              <a:rPr sz="1100" b="1">
                <a:solidFill>
                  <a:srgbClr val="FFFFFF"/>
                </a:solidFill>
                <a:latin typeface="Calibri"/>
              </a:rPr>
              <a:t>ISSUE DATE (YYYY)</a:t>
            </a:r>
          </a:p>
        </p:txBody>
      </p:sp>
      <p:sp>
        <p:nvSpPr>
          <p:cNvPr id="11" name="Rectangle 10"/>
          <p:cNvSpPr/>
          <p:nvPr/>
        </p:nvSpPr>
        <p:spPr>
          <a:xfrm>
            <a:off x="8958834" y="1143000"/>
            <a:ext cx="2864358" cy="59436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050274" y="1234440"/>
            <a:ext cx="2727198" cy="502920"/>
          </a:xfrm>
          <a:prstGeom prst="rect">
            <a:avLst/>
          </a:prstGeom>
          <a:noFill/>
        </p:spPr>
        <p:txBody>
          <a:bodyPr wrap="square">
            <a:spAutoFit/>
          </a:bodyPr>
          <a:lstStyle/>
          <a:p>
            <a:pPr algn="l"/>
            <a:r>
              <a:rPr sz="1100" b="1">
                <a:solidFill>
                  <a:srgbClr val="FFFFFF"/>
                </a:solidFill>
                <a:latin typeface="Calibri"/>
              </a:rPr>
              <a:t>PRIMARY SPONSOR IMPACT</a:t>
            </a:r>
          </a:p>
        </p:txBody>
      </p:sp>
      <p:sp>
        <p:nvSpPr>
          <p:cNvPr id="13" name="Rectangle 12"/>
          <p:cNvSpPr/>
          <p:nvPr/>
        </p:nvSpPr>
        <p:spPr>
          <a:xfrm>
            <a:off x="365760" y="173736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1737360"/>
            <a:ext cx="45720"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1810512"/>
            <a:ext cx="2699766" cy="667512"/>
          </a:xfrm>
          <a:prstGeom prst="rect">
            <a:avLst/>
          </a:prstGeom>
          <a:noFill/>
        </p:spPr>
        <p:txBody>
          <a:bodyPr wrap="square">
            <a:spAutoFit/>
          </a:bodyPr>
          <a:lstStyle/>
          <a:p>
            <a:pPr algn="l"/>
            <a:r>
              <a:rPr sz="1100" b="1">
                <a:solidFill>
                  <a:srgbClr val="1E3A2F"/>
                </a:solidFill>
                <a:latin typeface="Calibri"/>
              </a:rPr>
              <a:t>Enhancing Participation in Clinical Trials guidance</a:t>
            </a:r>
          </a:p>
        </p:txBody>
      </p:sp>
      <p:sp>
        <p:nvSpPr>
          <p:cNvPr id="16" name="Rectangle 15"/>
          <p:cNvSpPr/>
          <p:nvPr/>
        </p:nvSpPr>
        <p:spPr>
          <a:xfrm>
            <a:off x="3230118" y="173736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39846" y="1810512"/>
            <a:ext cx="2699766" cy="667512"/>
          </a:xfrm>
          <a:prstGeom prst="rect">
            <a:avLst/>
          </a:prstGeom>
          <a:noFill/>
        </p:spPr>
        <p:txBody>
          <a:bodyPr wrap="square">
            <a:spAutoFit/>
          </a:bodyPr>
          <a:lstStyle/>
          <a:p>
            <a:pPr algn="l"/>
            <a:r>
              <a:rPr sz="1100" b="0">
                <a:solidFill>
                  <a:srgbClr val="1E3A2F"/>
                </a:solidFill>
                <a:latin typeface="Calibri"/>
              </a:rPr>
              <a:t>Final</a:t>
            </a:r>
          </a:p>
        </p:txBody>
      </p:sp>
      <p:sp>
        <p:nvSpPr>
          <p:cNvPr id="18" name="Rectangle 17"/>
          <p:cNvSpPr/>
          <p:nvPr/>
        </p:nvSpPr>
        <p:spPr>
          <a:xfrm>
            <a:off x="6094476" y="173736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04204" y="1810512"/>
            <a:ext cx="2699766" cy="667512"/>
          </a:xfrm>
          <a:prstGeom prst="rect">
            <a:avLst/>
          </a:prstGeom>
          <a:noFill/>
        </p:spPr>
        <p:txBody>
          <a:bodyPr wrap="square">
            <a:spAutoFit/>
          </a:bodyPr>
          <a:lstStyle/>
          <a:p>
            <a:pPr algn="l"/>
            <a:r>
              <a:rPr sz="1100" b="0">
                <a:solidFill>
                  <a:srgbClr val="4A7C59"/>
                </a:solidFill>
                <a:latin typeface="Calibri"/>
              </a:rPr>
              <a:t>2025</a:t>
            </a:r>
          </a:p>
        </p:txBody>
      </p:sp>
      <p:sp>
        <p:nvSpPr>
          <p:cNvPr id="20" name="Rectangle 19"/>
          <p:cNvSpPr/>
          <p:nvPr/>
        </p:nvSpPr>
        <p:spPr>
          <a:xfrm>
            <a:off x="8958834" y="173736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68562" y="1810512"/>
            <a:ext cx="2699766" cy="667512"/>
          </a:xfrm>
          <a:prstGeom prst="rect">
            <a:avLst/>
          </a:prstGeom>
          <a:noFill/>
        </p:spPr>
        <p:txBody>
          <a:bodyPr wrap="square">
            <a:spAutoFit/>
          </a:bodyPr>
          <a:lstStyle/>
          <a:p>
            <a:pPr algn="l"/>
            <a:r>
              <a:rPr sz="1100" b="0">
                <a:solidFill>
                  <a:srgbClr val="1E3A2F"/>
                </a:solidFill>
                <a:latin typeface="Calibri"/>
              </a:rPr>
              <a:t>Recommends design and operational approaches to broaden participation for trials supporting NDA or BLA submissions.</a:t>
            </a:r>
          </a:p>
        </p:txBody>
      </p:sp>
      <p:sp>
        <p:nvSpPr>
          <p:cNvPr id="22" name="Rectangle 21"/>
          <p:cNvSpPr/>
          <p:nvPr/>
        </p:nvSpPr>
        <p:spPr>
          <a:xfrm>
            <a:off x="365760" y="251460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2514600"/>
            <a:ext cx="45720"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75488" y="2587752"/>
            <a:ext cx="2699766" cy="667512"/>
          </a:xfrm>
          <a:prstGeom prst="rect">
            <a:avLst/>
          </a:prstGeom>
          <a:noFill/>
        </p:spPr>
        <p:txBody>
          <a:bodyPr wrap="square">
            <a:spAutoFit/>
          </a:bodyPr>
          <a:lstStyle/>
          <a:p>
            <a:pPr algn="l"/>
            <a:r>
              <a:rPr sz="1100" b="1">
                <a:solidFill>
                  <a:srgbClr val="1E3A2F"/>
                </a:solidFill>
                <a:latin typeface="Calibri"/>
              </a:rPr>
              <a:t>Diversity Action Plans guidance</a:t>
            </a:r>
          </a:p>
        </p:txBody>
      </p:sp>
      <p:sp>
        <p:nvSpPr>
          <p:cNvPr id="25" name="Rectangle 24"/>
          <p:cNvSpPr/>
          <p:nvPr/>
        </p:nvSpPr>
        <p:spPr>
          <a:xfrm>
            <a:off x="3230118" y="251460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39846" y="2587752"/>
            <a:ext cx="2699766" cy="667512"/>
          </a:xfrm>
          <a:prstGeom prst="rect">
            <a:avLst/>
          </a:prstGeom>
          <a:noFill/>
        </p:spPr>
        <p:txBody>
          <a:bodyPr wrap="square">
            <a:spAutoFit/>
          </a:bodyPr>
          <a:lstStyle/>
          <a:p>
            <a:pPr algn="l"/>
            <a:r>
              <a:rPr sz="1100" b="0">
                <a:solidFill>
                  <a:srgbClr val="1E3A2F"/>
                </a:solidFill>
                <a:latin typeface="Calibri"/>
              </a:rPr>
              <a:t>Draft</a:t>
            </a:r>
          </a:p>
        </p:txBody>
      </p:sp>
      <p:sp>
        <p:nvSpPr>
          <p:cNvPr id="27" name="Rectangle 26"/>
          <p:cNvSpPr/>
          <p:nvPr/>
        </p:nvSpPr>
        <p:spPr>
          <a:xfrm>
            <a:off x="6094476" y="251460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04204" y="2587752"/>
            <a:ext cx="2699766" cy="667512"/>
          </a:xfrm>
          <a:prstGeom prst="rect">
            <a:avLst/>
          </a:prstGeom>
          <a:noFill/>
        </p:spPr>
        <p:txBody>
          <a:bodyPr wrap="square">
            <a:spAutoFit/>
          </a:bodyPr>
          <a:lstStyle/>
          <a:p>
            <a:pPr algn="l"/>
            <a:r>
              <a:rPr sz="1100" b="0">
                <a:solidFill>
                  <a:srgbClr val="4A7C59"/>
                </a:solidFill>
                <a:latin typeface="Calibri"/>
              </a:rPr>
              <a:t>2024</a:t>
            </a:r>
          </a:p>
        </p:txBody>
      </p:sp>
      <p:sp>
        <p:nvSpPr>
          <p:cNvPr id="29" name="Rectangle 28"/>
          <p:cNvSpPr/>
          <p:nvPr/>
        </p:nvSpPr>
        <p:spPr>
          <a:xfrm>
            <a:off x="8958834" y="251460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068562" y="2587752"/>
            <a:ext cx="2699766" cy="667512"/>
          </a:xfrm>
          <a:prstGeom prst="rect">
            <a:avLst/>
          </a:prstGeom>
          <a:noFill/>
        </p:spPr>
        <p:txBody>
          <a:bodyPr wrap="square">
            <a:spAutoFit/>
          </a:bodyPr>
          <a:lstStyle/>
          <a:p>
            <a:pPr algn="l"/>
            <a:r>
              <a:rPr sz="1100" b="0">
                <a:solidFill>
                  <a:srgbClr val="1E3A2F"/>
                </a:solidFill>
                <a:latin typeface="Calibri"/>
              </a:rPr>
              <a:t>Describes format, content, timing, and waiver considerations for Diversity Action Plans required by FDORA.</a:t>
            </a:r>
          </a:p>
        </p:txBody>
      </p:sp>
      <p:sp>
        <p:nvSpPr>
          <p:cNvPr id="31" name="Rectangle 30"/>
          <p:cNvSpPr/>
          <p:nvPr/>
        </p:nvSpPr>
        <p:spPr>
          <a:xfrm>
            <a:off x="365760" y="329184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65760" y="3291840"/>
            <a:ext cx="45720"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5488" y="3364992"/>
            <a:ext cx="2699766" cy="667512"/>
          </a:xfrm>
          <a:prstGeom prst="rect">
            <a:avLst/>
          </a:prstGeom>
          <a:noFill/>
        </p:spPr>
        <p:txBody>
          <a:bodyPr wrap="square">
            <a:spAutoFit/>
          </a:bodyPr>
          <a:lstStyle/>
          <a:p>
            <a:pPr algn="l"/>
            <a:r>
              <a:rPr sz="1100" b="1">
                <a:solidFill>
                  <a:srgbClr val="1E3A2F"/>
                </a:solidFill>
                <a:latin typeface="Calibri"/>
              </a:rPr>
              <a:t>Collection of Race and Ethnicity Data guidance</a:t>
            </a:r>
          </a:p>
        </p:txBody>
      </p:sp>
      <p:sp>
        <p:nvSpPr>
          <p:cNvPr id="34" name="Rectangle 33"/>
          <p:cNvSpPr/>
          <p:nvPr/>
        </p:nvSpPr>
        <p:spPr>
          <a:xfrm>
            <a:off x="3230118" y="329184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339846" y="3364992"/>
            <a:ext cx="2699766" cy="667512"/>
          </a:xfrm>
          <a:prstGeom prst="rect">
            <a:avLst/>
          </a:prstGeom>
          <a:noFill/>
        </p:spPr>
        <p:txBody>
          <a:bodyPr wrap="square">
            <a:spAutoFit/>
          </a:bodyPr>
          <a:lstStyle/>
          <a:p>
            <a:pPr algn="l"/>
            <a:r>
              <a:rPr sz="1100" b="0">
                <a:solidFill>
                  <a:srgbClr val="1E3A2F"/>
                </a:solidFill>
                <a:latin typeface="Calibri"/>
              </a:rPr>
              <a:t>Draft</a:t>
            </a:r>
          </a:p>
        </p:txBody>
      </p:sp>
      <p:sp>
        <p:nvSpPr>
          <p:cNvPr id="36" name="Rectangle 35"/>
          <p:cNvSpPr/>
          <p:nvPr/>
        </p:nvSpPr>
        <p:spPr>
          <a:xfrm>
            <a:off x="6094476" y="329184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04204" y="3364992"/>
            <a:ext cx="2699766" cy="667512"/>
          </a:xfrm>
          <a:prstGeom prst="rect">
            <a:avLst/>
          </a:prstGeom>
          <a:noFill/>
        </p:spPr>
        <p:txBody>
          <a:bodyPr wrap="square">
            <a:spAutoFit/>
          </a:bodyPr>
          <a:lstStyle/>
          <a:p>
            <a:pPr algn="l"/>
            <a:r>
              <a:rPr sz="1100" b="0">
                <a:solidFill>
                  <a:srgbClr val="4A7C59"/>
                </a:solidFill>
                <a:latin typeface="Calibri"/>
              </a:rPr>
              <a:t>2024</a:t>
            </a:r>
          </a:p>
        </p:txBody>
      </p:sp>
      <p:sp>
        <p:nvSpPr>
          <p:cNvPr id="38" name="Rectangle 37"/>
          <p:cNvSpPr/>
          <p:nvPr/>
        </p:nvSpPr>
        <p:spPr>
          <a:xfrm>
            <a:off x="8958834" y="3291840"/>
            <a:ext cx="2864358" cy="777240"/>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68562" y="3364992"/>
            <a:ext cx="2699766" cy="667512"/>
          </a:xfrm>
          <a:prstGeom prst="rect">
            <a:avLst/>
          </a:prstGeom>
          <a:noFill/>
        </p:spPr>
        <p:txBody>
          <a:bodyPr wrap="square">
            <a:spAutoFit/>
          </a:bodyPr>
          <a:lstStyle/>
          <a:p>
            <a:pPr algn="l"/>
            <a:r>
              <a:rPr sz="1100" b="0">
                <a:solidFill>
                  <a:srgbClr val="1E3A2F"/>
                </a:solidFill>
                <a:latin typeface="Calibri"/>
              </a:rPr>
              <a:t>Updates recommendations for standardized collection and reporting of race and ethnicity data in FDA regulated product studies.</a:t>
            </a:r>
          </a:p>
        </p:txBody>
      </p:sp>
      <p:sp>
        <p:nvSpPr>
          <p:cNvPr id="40" name="Rectangle 39"/>
          <p:cNvSpPr/>
          <p:nvPr/>
        </p:nvSpPr>
        <p:spPr>
          <a:xfrm>
            <a:off x="365760" y="406908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65760" y="4069080"/>
            <a:ext cx="45720"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75488" y="4142232"/>
            <a:ext cx="2699766" cy="667512"/>
          </a:xfrm>
          <a:prstGeom prst="rect">
            <a:avLst/>
          </a:prstGeom>
          <a:noFill/>
        </p:spPr>
        <p:txBody>
          <a:bodyPr wrap="square">
            <a:spAutoFit/>
          </a:bodyPr>
          <a:lstStyle/>
          <a:p>
            <a:pPr algn="l"/>
            <a:r>
              <a:rPr sz="1100" b="1">
                <a:solidFill>
                  <a:srgbClr val="1E3A2F"/>
                </a:solidFill>
                <a:latin typeface="Calibri"/>
              </a:rPr>
              <a:t>Enhancing the Diversity of Clinical Trial Populations guidance</a:t>
            </a:r>
          </a:p>
        </p:txBody>
      </p:sp>
      <p:sp>
        <p:nvSpPr>
          <p:cNvPr id="43" name="Rectangle 42"/>
          <p:cNvSpPr/>
          <p:nvPr/>
        </p:nvSpPr>
        <p:spPr>
          <a:xfrm>
            <a:off x="3230118" y="406908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339846" y="4142232"/>
            <a:ext cx="2699766" cy="667512"/>
          </a:xfrm>
          <a:prstGeom prst="rect">
            <a:avLst/>
          </a:prstGeom>
          <a:noFill/>
        </p:spPr>
        <p:txBody>
          <a:bodyPr wrap="square">
            <a:spAutoFit/>
          </a:bodyPr>
          <a:lstStyle/>
          <a:p>
            <a:pPr algn="l"/>
            <a:r>
              <a:rPr sz="1100" b="0">
                <a:solidFill>
                  <a:srgbClr val="1E3A2F"/>
                </a:solidFill>
                <a:latin typeface="Calibri"/>
              </a:rPr>
              <a:t>Final</a:t>
            </a:r>
          </a:p>
        </p:txBody>
      </p:sp>
      <p:sp>
        <p:nvSpPr>
          <p:cNvPr id="45" name="Rectangle 44"/>
          <p:cNvSpPr/>
          <p:nvPr/>
        </p:nvSpPr>
        <p:spPr>
          <a:xfrm>
            <a:off x="6094476" y="406908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04204" y="4142232"/>
            <a:ext cx="2699766" cy="667512"/>
          </a:xfrm>
          <a:prstGeom prst="rect">
            <a:avLst/>
          </a:prstGeom>
          <a:noFill/>
        </p:spPr>
        <p:txBody>
          <a:bodyPr wrap="square">
            <a:spAutoFit/>
          </a:bodyPr>
          <a:lstStyle/>
          <a:p>
            <a:pPr algn="l"/>
            <a:r>
              <a:rPr sz="1100" b="0">
                <a:solidFill>
                  <a:srgbClr val="4A7C59"/>
                </a:solidFill>
                <a:latin typeface="Calibri"/>
              </a:rPr>
              <a:t>2020</a:t>
            </a:r>
          </a:p>
        </p:txBody>
      </p:sp>
      <p:sp>
        <p:nvSpPr>
          <p:cNvPr id="47" name="Rectangle 46"/>
          <p:cNvSpPr/>
          <p:nvPr/>
        </p:nvSpPr>
        <p:spPr>
          <a:xfrm>
            <a:off x="8958834" y="4069080"/>
            <a:ext cx="2864358" cy="777240"/>
          </a:xfrm>
          <a:prstGeom prst="rect">
            <a:avLst/>
          </a:prstGeom>
          <a:solidFill>
            <a:srgbClr val="FFFFFF"/>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068562" y="4142232"/>
            <a:ext cx="2699766" cy="667512"/>
          </a:xfrm>
          <a:prstGeom prst="rect">
            <a:avLst/>
          </a:prstGeom>
          <a:noFill/>
        </p:spPr>
        <p:txBody>
          <a:bodyPr wrap="square">
            <a:spAutoFit/>
          </a:bodyPr>
          <a:lstStyle/>
          <a:p>
            <a:pPr algn="l"/>
            <a:r>
              <a:rPr sz="1100" b="0">
                <a:solidFill>
                  <a:srgbClr val="1E3A2F"/>
                </a:solidFill>
                <a:latin typeface="Calibri"/>
              </a:rPr>
              <a:t>Earlier foundational guidance on eligibility, enrollment practices, and trial designs to improve diversity.</a:t>
            </a:r>
          </a:p>
        </p:txBody>
      </p:sp>
      <p:sp>
        <p:nvSpPr>
          <p:cNvPr id="49" name="Rectangle 48"/>
          <p:cNvSpPr/>
          <p:nvPr/>
        </p:nvSpPr>
        <p:spPr>
          <a:xfrm>
            <a:off x="365760" y="4937760"/>
            <a:ext cx="11457432" cy="41148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365760" y="4937760"/>
            <a:ext cx="73152" cy="41148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94360" y="5010912"/>
            <a:ext cx="11091672" cy="292608"/>
          </a:xfrm>
          <a:prstGeom prst="rect">
            <a:avLst/>
          </a:prstGeom>
          <a:noFill/>
        </p:spPr>
        <p:txBody>
          <a:bodyPr wrap="square">
            <a:spAutoFit/>
          </a:bodyPr>
          <a:lstStyle/>
          <a:p>
            <a:pPr algn="l"/>
            <a:r>
              <a:rPr sz="1000" b="0">
                <a:solidFill>
                  <a:srgbClr val="7A9A84"/>
                </a:solidFill>
                <a:latin typeface="Calibri"/>
              </a:rPr>
              <a:t>4 records  ·  4 metrics  ·  Source: Document Analysis</a:t>
            </a:r>
          </a:p>
        </p:txBody>
      </p:sp>
      <p:sp>
        <p:nvSpPr>
          <p:cNvPr id="52" name="TextBox 51"/>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743200" cy="685800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8600" y="914400"/>
            <a:ext cx="2377440" cy="2286000"/>
          </a:xfrm>
          <a:prstGeom prst="rect">
            <a:avLst/>
          </a:prstGeom>
          <a:noFill/>
        </p:spPr>
        <p:txBody>
          <a:bodyPr wrap="square">
            <a:spAutoFit/>
          </a:bodyPr>
          <a:lstStyle/>
          <a:p>
            <a:pPr algn="l"/>
            <a:r>
              <a:rPr sz="2000" b="1">
                <a:solidFill>
                  <a:srgbClr val="FFFFFF"/>
                </a:solidFill>
                <a:latin typeface="Calibri"/>
              </a:rPr>
              <a:t>Diversity Mandate Evolution Milestones</a:t>
            </a:r>
          </a:p>
        </p:txBody>
      </p:sp>
      <p:sp>
        <p:nvSpPr>
          <p:cNvPr id="5" name="TextBox 4"/>
          <p:cNvSpPr txBox="1"/>
          <p:nvPr/>
        </p:nvSpPr>
        <p:spPr>
          <a:xfrm>
            <a:off x="228600" y="3520440"/>
            <a:ext cx="2377440" cy="914400"/>
          </a:xfrm>
          <a:prstGeom prst="rect">
            <a:avLst/>
          </a:prstGeom>
          <a:noFill/>
        </p:spPr>
        <p:txBody>
          <a:bodyPr wrap="square">
            <a:spAutoFit/>
          </a:bodyPr>
          <a:lstStyle/>
          <a:p>
            <a:pPr algn="l"/>
            <a:r>
              <a:rPr sz="900" b="0">
                <a:solidFill>
                  <a:srgbClr val="7A9A84"/>
                </a:solidFill>
                <a:latin typeface="Calibri"/>
              </a:rPr>
              <a:t>Data visualization
from document analysis</a:t>
            </a:r>
          </a:p>
        </p:txBody>
      </p:sp>
      <p:sp>
        <p:nvSpPr>
          <p:cNvPr id="6" name="Oval 5"/>
          <p:cNvSpPr/>
          <p:nvPr/>
        </p:nvSpPr>
        <p:spPr>
          <a:xfrm>
            <a:off x="777240" y="5029200"/>
            <a:ext cx="731520" cy="731520"/>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Calibri"/>
              </a:rPr>
              <a:t>📊</a:t>
            </a:r>
          </a:p>
        </p:txBody>
      </p:sp>
      <p:sp>
        <p:nvSpPr>
          <p:cNvPr id="7" name="Rectangle 6"/>
          <p:cNvSpPr/>
          <p:nvPr/>
        </p:nvSpPr>
        <p:spPr>
          <a:xfrm>
            <a:off x="2880360" y="91440"/>
            <a:ext cx="9171432" cy="6675120"/>
          </a:xfrm>
          <a:prstGeom prst="rect">
            <a:avLst/>
          </a:prstGeom>
          <a:solidFill>
            <a:srgbClr val="F0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hart_6.png"/>
          <p:cNvPicPr>
            <a:picLocks noChangeAspect="1"/>
          </p:cNvPicPr>
          <p:nvPr/>
        </p:nvPicPr>
        <p:blipFill>
          <a:blip r:embed="rId2"/>
          <a:stretch>
            <a:fillRect/>
          </a:stretch>
        </p:blipFill>
        <p:spPr>
          <a:xfrm>
            <a:off x="2971800" y="182880"/>
            <a:ext cx="8988552" cy="6492240"/>
          </a:xfrm>
          <a:prstGeom prst="rect">
            <a:avLst/>
          </a:prstGeom>
        </p:spPr>
      </p:pic>
      <p:sp>
        <p:nvSpPr>
          <p:cNvPr id="9" name="TextBox 8"/>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0058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10058400" cy="731520"/>
          </a:xfrm>
          <a:prstGeom prst="rect">
            <a:avLst/>
          </a:prstGeom>
          <a:noFill/>
        </p:spPr>
        <p:txBody>
          <a:bodyPr wrap="square">
            <a:spAutoFit/>
          </a:bodyPr>
          <a:lstStyle/>
          <a:p>
            <a:pPr algn="l"/>
            <a:r>
              <a:rPr sz="2400" b="1">
                <a:solidFill>
                  <a:srgbClr val="FFFFFF"/>
                </a:solidFill>
                <a:latin typeface="Calibri"/>
              </a:rPr>
              <a:t>Industry Response to Mandates</a:t>
            </a:r>
          </a:p>
        </p:txBody>
      </p:sp>
      <p:sp>
        <p:nvSpPr>
          <p:cNvPr id="5" name="Rectangle 4"/>
          <p:cNvSpPr/>
          <p:nvPr/>
        </p:nvSpPr>
        <p:spPr>
          <a:xfrm>
            <a:off x="320040" y="1188720"/>
            <a:ext cx="2236622" cy="54864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188720"/>
            <a:ext cx="2236622" cy="73152"/>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353312"/>
            <a:ext cx="2145182" cy="822960"/>
          </a:xfrm>
          <a:prstGeom prst="rect">
            <a:avLst/>
          </a:prstGeom>
          <a:noFill/>
        </p:spPr>
        <p:txBody>
          <a:bodyPr wrap="square">
            <a:spAutoFit/>
          </a:bodyPr>
          <a:lstStyle/>
          <a:p>
            <a:pPr algn="ctr"/>
            <a:r>
              <a:rPr sz="3800" b="1">
                <a:solidFill>
                  <a:srgbClr val="4A7C59"/>
                </a:solidFill>
                <a:latin typeface="Calibri"/>
              </a:rPr>
              <a:t>01</a:t>
            </a:r>
          </a:p>
        </p:txBody>
      </p:sp>
      <p:sp>
        <p:nvSpPr>
          <p:cNvPr id="8" name="Rectangle 7"/>
          <p:cNvSpPr/>
          <p:nvPr/>
        </p:nvSpPr>
        <p:spPr>
          <a:xfrm>
            <a:off x="548640" y="2240280"/>
            <a:ext cx="1687982" cy="3657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2359152"/>
            <a:ext cx="2145182" cy="594360"/>
          </a:xfrm>
          <a:prstGeom prst="rect">
            <a:avLst/>
          </a:prstGeom>
          <a:noFill/>
        </p:spPr>
        <p:txBody>
          <a:bodyPr wrap="square">
            <a:spAutoFit/>
          </a:bodyPr>
          <a:lstStyle/>
          <a:p>
            <a:pPr algn="ctr"/>
            <a:r>
              <a:rPr sz="1300" b="1">
                <a:solidFill>
                  <a:srgbClr val="1E3A2F"/>
                </a:solidFill>
                <a:latin typeface="Calibri"/>
              </a:rPr>
              <a:t>Epidemiological Data</a:t>
            </a:r>
          </a:p>
        </p:txBody>
      </p:sp>
      <p:sp>
        <p:nvSpPr>
          <p:cNvPr id="10" name="TextBox 9"/>
          <p:cNvSpPr txBox="1"/>
          <p:nvPr/>
        </p:nvSpPr>
        <p:spPr>
          <a:xfrm>
            <a:off x="384048" y="3063239"/>
            <a:ext cx="2108606" cy="3474720"/>
          </a:xfrm>
          <a:prstGeom prst="rect">
            <a:avLst/>
          </a:prstGeom>
          <a:noFill/>
        </p:spPr>
        <p:txBody>
          <a:bodyPr wrap="square">
            <a:spAutoFit/>
          </a:bodyPr>
          <a:lstStyle/>
          <a:p>
            <a:pPr algn="ctr"/>
            <a:r>
              <a:rPr sz="1200" b="0">
                <a:solidFill>
                  <a:srgbClr val="7A9A84"/>
                </a:solidFill>
                <a:latin typeface="Calibri"/>
              </a:rPr>
              <a:t>use of epidemiological data to prioritize enrollment goals</a:t>
            </a:r>
          </a:p>
        </p:txBody>
      </p:sp>
      <p:sp>
        <p:nvSpPr>
          <p:cNvPr id="11" name="Rectangle 10"/>
          <p:cNvSpPr/>
          <p:nvPr/>
        </p:nvSpPr>
        <p:spPr>
          <a:xfrm>
            <a:off x="2648102" y="1188720"/>
            <a:ext cx="2236622" cy="54864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648102" y="1188720"/>
            <a:ext cx="2236622" cy="7315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93822" y="1353312"/>
            <a:ext cx="2145182" cy="822960"/>
          </a:xfrm>
          <a:prstGeom prst="rect">
            <a:avLst/>
          </a:prstGeom>
          <a:noFill/>
        </p:spPr>
        <p:txBody>
          <a:bodyPr wrap="square">
            <a:spAutoFit/>
          </a:bodyPr>
          <a:lstStyle/>
          <a:p>
            <a:pPr algn="ctr"/>
            <a:r>
              <a:rPr sz="3800" b="1">
                <a:solidFill>
                  <a:srgbClr val="1E3A2F"/>
                </a:solidFill>
                <a:latin typeface="Calibri"/>
              </a:rPr>
              <a:t>02</a:t>
            </a:r>
          </a:p>
        </p:txBody>
      </p:sp>
      <p:sp>
        <p:nvSpPr>
          <p:cNvPr id="14" name="Rectangle 13"/>
          <p:cNvSpPr/>
          <p:nvPr/>
        </p:nvSpPr>
        <p:spPr>
          <a:xfrm>
            <a:off x="2876702" y="2240280"/>
            <a:ext cx="1687982" cy="3657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93822" y="2359152"/>
            <a:ext cx="2145182" cy="594360"/>
          </a:xfrm>
          <a:prstGeom prst="rect">
            <a:avLst/>
          </a:prstGeom>
          <a:noFill/>
        </p:spPr>
        <p:txBody>
          <a:bodyPr wrap="square">
            <a:spAutoFit/>
          </a:bodyPr>
          <a:lstStyle/>
          <a:p>
            <a:pPr algn="ctr"/>
            <a:r>
              <a:rPr sz="1300" b="1">
                <a:solidFill>
                  <a:srgbClr val="1E3A2F"/>
                </a:solidFill>
                <a:latin typeface="Calibri"/>
              </a:rPr>
              <a:t>AI-Driven Eligibility</a:t>
            </a:r>
          </a:p>
        </p:txBody>
      </p:sp>
      <p:sp>
        <p:nvSpPr>
          <p:cNvPr id="16" name="TextBox 15"/>
          <p:cNvSpPr txBox="1"/>
          <p:nvPr/>
        </p:nvSpPr>
        <p:spPr>
          <a:xfrm>
            <a:off x="2712110" y="3063239"/>
            <a:ext cx="2108606" cy="3474720"/>
          </a:xfrm>
          <a:prstGeom prst="rect">
            <a:avLst/>
          </a:prstGeom>
          <a:noFill/>
        </p:spPr>
        <p:txBody>
          <a:bodyPr wrap="square">
            <a:spAutoFit/>
          </a:bodyPr>
          <a:lstStyle/>
          <a:p>
            <a:pPr algn="ctr"/>
            <a:r>
              <a:rPr sz="1200" b="0">
                <a:solidFill>
                  <a:srgbClr val="7A9A84"/>
                </a:solidFill>
                <a:latin typeface="Calibri"/>
              </a:rPr>
              <a:t>use of AI-driven eligibility to reduce burdens and costs</a:t>
            </a:r>
          </a:p>
        </p:txBody>
      </p:sp>
      <p:sp>
        <p:nvSpPr>
          <p:cNvPr id="17" name="Rectangle 16"/>
          <p:cNvSpPr/>
          <p:nvPr/>
        </p:nvSpPr>
        <p:spPr>
          <a:xfrm>
            <a:off x="4976164" y="1188720"/>
            <a:ext cx="2236622" cy="54864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976164" y="1188720"/>
            <a:ext cx="2236622" cy="73152"/>
          </a:xfrm>
          <a:prstGeom prst="rect">
            <a:avLst/>
          </a:prstGeom>
          <a:solidFill>
            <a:srgbClr val="4A6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1884" y="1353312"/>
            <a:ext cx="2145182" cy="822960"/>
          </a:xfrm>
          <a:prstGeom prst="rect">
            <a:avLst/>
          </a:prstGeom>
          <a:noFill/>
        </p:spPr>
        <p:txBody>
          <a:bodyPr wrap="square">
            <a:spAutoFit/>
          </a:bodyPr>
          <a:lstStyle/>
          <a:p>
            <a:pPr algn="ctr"/>
            <a:r>
              <a:rPr sz="3800" b="1">
                <a:solidFill>
                  <a:srgbClr val="4A6A4A"/>
                </a:solidFill>
                <a:latin typeface="Calibri"/>
              </a:rPr>
              <a:t>03</a:t>
            </a:r>
          </a:p>
        </p:txBody>
      </p:sp>
      <p:sp>
        <p:nvSpPr>
          <p:cNvPr id="20" name="Rectangle 19"/>
          <p:cNvSpPr/>
          <p:nvPr/>
        </p:nvSpPr>
        <p:spPr>
          <a:xfrm>
            <a:off x="5204764" y="2240280"/>
            <a:ext cx="1687982" cy="3657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1884" y="2359152"/>
            <a:ext cx="2145182" cy="594360"/>
          </a:xfrm>
          <a:prstGeom prst="rect">
            <a:avLst/>
          </a:prstGeom>
          <a:noFill/>
        </p:spPr>
        <p:txBody>
          <a:bodyPr wrap="square">
            <a:spAutoFit/>
          </a:bodyPr>
          <a:lstStyle/>
          <a:p>
            <a:pPr algn="ctr"/>
            <a:r>
              <a:rPr sz="1300" b="1">
                <a:solidFill>
                  <a:srgbClr val="1E3A2F"/>
                </a:solidFill>
                <a:latin typeface="Calibri"/>
              </a:rPr>
              <a:t>Shared Infrastructure</a:t>
            </a:r>
          </a:p>
        </p:txBody>
      </p:sp>
      <p:sp>
        <p:nvSpPr>
          <p:cNvPr id="22" name="TextBox 21"/>
          <p:cNvSpPr txBox="1"/>
          <p:nvPr/>
        </p:nvSpPr>
        <p:spPr>
          <a:xfrm>
            <a:off x="5040172" y="3063239"/>
            <a:ext cx="2108606" cy="3474720"/>
          </a:xfrm>
          <a:prstGeom prst="rect">
            <a:avLst/>
          </a:prstGeom>
          <a:noFill/>
        </p:spPr>
        <p:txBody>
          <a:bodyPr wrap="square">
            <a:spAutoFit/>
          </a:bodyPr>
          <a:lstStyle/>
          <a:p>
            <a:pPr algn="ctr"/>
            <a:r>
              <a:rPr sz="1200" b="0">
                <a:solidFill>
                  <a:srgbClr val="7A9A84"/>
                </a:solidFill>
                <a:latin typeface="Calibri"/>
              </a:rPr>
              <a:t>use of shared infrastructure to reduce costs and improve efficiency</a:t>
            </a:r>
          </a:p>
        </p:txBody>
      </p:sp>
      <p:sp>
        <p:nvSpPr>
          <p:cNvPr id="23" name="Rectangle 22"/>
          <p:cNvSpPr/>
          <p:nvPr/>
        </p:nvSpPr>
        <p:spPr>
          <a:xfrm>
            <a:off x="7304227" y="1188720"/>
            <a:ext cx="2236622" cy="54864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304227" y="1188720"/>
            <a:ext cx="2236622" cy="73152"/>
          </a:xfrm>
          <a:prstGeom prst="rect">
            <a:avLst/>
          </a:prstGeom>
          <a:solidFill>
            <a:srgbClr val="3A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49947" y="1353312"/>
            <a:ext cx="2145182" cy="822960"/>
          </a:xfrm>
          <a:prstGeom prst="rect">
            <a:avLst/>
          </a:prstGeom>
          <a:noFill/>
        </p:spPr>
        <p:txBody>
          <a:bodyPr wrap="square">
            <a:spAutoFit/>
          </a:bodyPr>
          <a:lstStyle/>
          <a:p>
            <a:pPr algn="ctr"/>
            <a:r>
              <a:rPr sz="3800" b="1">
                <a:solidFill>
                  <a:srgbClr val="3A3A5A"/>
                </a:solidFill>
                <a:latin typeface="Calibri"/>
              </a:rPr>
              <a:t>04</a:t>
            </a:r>
          </a:p>
        </p:txBody>
      </p:sp>
      <p:sp>
        <p:nvSpPr>
          <p:cNvPr id="26" name="Rectangle 25"/>
          <p:cNvSpPr/>
          <p:nvPr/>
        </p:nvSpPr>
        <p:spPr>
          <a:xfrm>
            <a:off x="7532827" y="2240280"/>
            <a:ext cx="1687982" cy="3657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49947" y="2359152"/>
            <a:ext cx="2145182" cy="594360"/>
          </a:xfrm>
          <a:prstGeom prst="rect">
            <a:avLst/>
          </a:prstGeom>
          <a:noFill/>
        </p:spPr>
        <p:txBody>
          <a:bodyPr wrap="square">
            <a:spAutoFit/>
          </a:bodyPr>
          <a:lstStyle/>
          <a:p>
            <a:pPr algn="ctr"/>
            <a:r>
              <a:rPr sz="1300" b="1">
                <a:solidFill>
                  <a:srgbClr val="1E3A2F"/>
                </a:solidFill>
                <a:latin typeface="Calibri"/>
              </a:rPr>
              <a:t>Digital Divides</a:t>
            </a:r>
          </a:p>
        </p:txBody>
      </p:sp>
      <p:sp>
        <p:nvSpPr>
          <p:cNvPr id="28" name="TextBox 27"/>
          <p:cNvSpPr txBox="1"/>
          <p:nvPr/>
        </p:nvSpPr>
        <p:spPr>
          <a:xfrm>
            <a:off x="7368235" y="3063239"/>
            <a:ext cx="2108606" cy="3474720"/>
          </a:xfrm>
          <a:prstGeom prst="rect">
            <a:avLst/>
          </a:prstGeom>
          <a:noFill/>
        </p:spPr>
        <p:txBody>
          <a:bodyPr wrap="square">
            <a:spAutoFit/>
          </a:bodyPr>
          <a:lstStyle/>
          <a:p>
            <a:pPr algn="ctr"/>
            <a:r>
              <a:rPr sz="1200" b="0">
                <a:solidFill>
                  <a:srgbClr val="7A9A84"/>
                </a:solidFill>
                <a:latin typeface="Calibri"/>
              </a:rPr>
              <a:t>addressing digital divides and biases in recruitment</a:t>
            </a:r>
          </a:p>
        </p:txBody>
      </p:sp>
      <p:sp>
        <p:nvSpPr>
          <p:cNvPr id="29" name="Rectangle 28"/>
          <p:cNvSpPr/>
          <p:nvPr/>
        </p:nvSpPr>
        <p:spPr>
          <a:xfrm>
            <a:off x="9632289" y="1188720"/>
            <a:ext cx="2236622" cy="5486400"/>
          </a:xfrm>
          <a:prstGeom prst="rect">
            <a:avLst/>
          </a:prstGeom>
          <a:solidFill>
            <a:srgbClr val="FFFFFF"/>
          </a:solidFill>
          <a:ln w="1270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632289" y="1188720"/>
            <a:ext cx="2236622" cy="73152"/>
          </a:xfrm>
          <a:prstGeom prst="rect">
            <a:avLst/>
          </a:prstGeom>
          <a:solidFill>
            <a:srgbClr val="5A3A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78009" y="1353312"/>
            <a:ext cx="2145182" cy="822960"/>
          </a:xfrm>
          <a:prstGeom prst="rect">
            <a:avLst/>
          </a:prstGeom>
          <a:noFill/>
        </p:spPr>
        <p:txBody>
          <a:bodyPr wrap="square">
            <a:spAutoFit/>
          </a:bodyPr>
          <a:lstStyle/>
          <a:p>
            <a:pPr algn="ctr"/>
            <a:r>
              <a:rPr sz="3800" b="1">
                <a:solidFill>
                  <a:srgbClr val="5A3A3A"/>
                </a:solidFill>
                <a:latin typeface="Calibri"/>
              </a:rPr>
              <a:t>05</a:t>
            </a:r>
          </a:p>
        </p:txBody>
      </p:sp>
      <p:sp>
        <p:nvSpPr>
          <p:cNvPr id="32" name="Rectangle 31"/>
          <p:cNvSpPr/>
          <p:nvPr/>
        </p:nvSpPr>
        <p:spPr>
          <a:xfrm>
            <a:off x="9860889" y="2240280"/>
            <a:ext cx="1687982" cy="36576"/>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678009" y="2359152"/>
            <a:ext cx="2145182" cy="594360"/>
          </a:xfrm>
          <a:prstGeom prst="rect">
            <a:avLst/>
          </a:prstGeom>
          <a:noFill/>
        </p:spPr>
        <p:txBody>
          <a:bodyPr wrap="square">
            <a:spAutoFit/>
          </a:bodyPr>
          <a:lstStyle/>
          <a:p>
            <a:pPr algn="ctr"/>
            <a:r>
              <a:rPr sz="1300" b="1">
                <a:solidFill>
                  <a:srgbClr val="1E3A2F"/>
                </a:solidFill>
                <a:latin typeface="Calibri"/>
              </a:rPr>
              <a:t>Regulatory Compliance</a:t>
            </a:r>
          </a:p>
        </p:txBody>
      </p:sp>
      <p:sp>
        <p:nvSpPr>
          <p:cNvPr id="34" name="TextBox 33"/>
          <p:cNvSpPr txBox="1"/>
          <p:nvPr/>
        </p:nvSpPr>
        <p:spPr>
          <a:xfrm>
            <a:off x="9696297" y="3063239"/>
            <a:ext cx="2108606" cy="3474720"/>
          </a:xfrm>
          <a:prstGeom prst="rect">
            <a:avLst/>
          </a:prstGeom>
          <a:noFill/>
        </p:spPr>
        <p:txBody>
          <a:bodyPr wrap="square">
            <a:spAutoFit/>
          </a:bodyPr>
          <a:lstStyle/>
          <a:p>
            <a:pPr algn="ctr"/>
            <a:r>
              <a:rPr sz="1200" b="0">
                <a:solidFill>
                  <a:srgbClr val="7A9A84"/>
                </a:solidFill>
                <a:latin typeface="Calibri"/>
              </a:rPr>
              <a:t>ensuring regulatory compliance in diverse recruitment</a:t>
            </a:r>
          </a:p>
        </p:txBody>
      </p:sp>
      <p:sp>
        <p:nvSpPr>
          <p:cNvPr id="35" name="TextBox 34"/>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10058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4320" y="137160"/>
            <a:ext cx="10058400" cy="731520"/>
          </a:xfrm>
          <a:prstGeom prst="rect">
            <a:avLst/>
          </a:prstGeom>
          <a:noFill/>
        </p:spPr>
        <p:txBody>
          <a:bodyPr wrap="square">
            <a:spAutoFit/>
          </a:bodyPr>
          <a:lstStyle/>
          <a:p>
            <a:pPr algn="l"/>
            <a:r>
              <a:rPr sz="2400" b="1">
                <a:solidFill>
                  <a:srgbClr val="FFFFFF"/>
                </a:solidFill>
                <a:latin typeface="Calibri"/>
              </a:rPr>
              <a:t>Government Incentive Programs vs Sponsor Costs</a:t>
            </a:r>
          </a:p>
        </p:txBody>
      </p:sp>
      <p:sp>
        <p:nvSpPr>
          <p:cNvPr id="5" name="Rectangle 4"/>
          <p:cNvSpPr/>
          <p:nvPr/>
        </p:nvSpPr>
        <p:spPr>
          <a:xfrm>
            <a:off x="457200" y="1143000"/>
            <a:ext cx="5454396" cy="50292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216152"/>
            <a:ext cx="5271516" cy="365760"/>
          </a:xfrm>
          <a:prstGeom prst="rect">
            <a:avLst/>
          </a:prstGeom>
          <a:noFill/>
        </p:spPr>
        <p:txBody>
          <a:bodyPr wrap="square">
            <a:spAutoFit/>
          </a:bodyPr>
          <a:lstStyle/>
          <a:p>
            <a:pPr algn="ctr"/>
            <a:r>
              <a:rPr sz="1300" b="1">
                <a:solidFill>
                  <a:srgbClr val="FFFFFF"/>
                </a:solidFill>
                <a:latin typeface="Calibri"/>
              </a:rPr>
              <a:t>GOVERNMENT INCENTIVE PROGRAMS</a:t>
            </a:r>
          </a:p>
        </p:txBody>
      </p:sp>
      <p:sp>
        <p:nvSpPr>
          <p:cNvPr id="7" name="Rectangle 6"/>
          <p:cNvSpPr/>
          <p:nvPr/>
        </p:nvSpPr>
        <p:spPr>
          <a:xfrm>
            <a:off x="457200" y="17373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737360"/>
            <a:ext cx="64008" cy="804672"/>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28800"/>
            <a:ext cx="5225796" cy="667512"/>
          </a:xfrm>
          <a:prstGeom prst="rect">
            <a:avLst/>
          </a:prstGeom>
          <a:noFill/>
        </p:spPr>
        <p:txBody>
          <a:bodyPr wrap="square">
            <a:spAutoFit/>
          </a:bodyPr>
          <a:lstStyle/>
          <a:p>
            <a:pPr algn="l"/>
            <a:r>
              <a:rPr sz="1100" b="0">
                <a:solidFill>
                  <a:srgbClr val="1E3A2F"/>
                </a:solidFill>
                <a:latin typeface="Calibri"/>
              </a:rPr>
              <a:t>Incentive Programs: government incentive programs to support diverse recruitment</a:t>
            </a:r>
          </a:p>
        </p:txBody>
      </p:sp>
      <p:sp>
        <p:nvSpPr>
          <p:cNvPr id="10" name="Rectangle 9"/>
          <p:cNvSpPr/>
          <p:nvPr/>
        </p:nvSpPr>
        <p:spPr>
          <a:xfrm>
            <a:off x="457200" y="26517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651760"/>
            <a:ext cx="64008" cy="804672"/>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743200"/>
            <a:ext cx="5225796" cy="667512"/>
          </a:xfrm>
          <a:prstGeom prst="rect">
            <a:avLst/>
          </a:prstGeom>
          <a:noFill/>
        </p:spPr>
        <p:txBody>
          <a:bodyPr wrap="square">
            <a:spAutoFit/>
          </a:bodyPr>
          <a:lstStyle/>
          <a:p>
            <a:pPr algn="l"/>
            <a:r>
              <a:rPr sz="1100" b="0">
                <a:solidFill>
                  <a:srgbClr val="1E3A2F"/>
                </a:solidFill>
                <a:latin typeface="Calibri"/>
              </a:rPr>
              <a:t>Cost Savings: cost savings for sponsors through diverse recruitment</a:t>
            </a:r>
          </a:p>
        </p:txBody>
      </p:sp>
      <p:sp>
        <p:nvSpPr>
          <p:cNvPr id="13" name="Rectangle 12"/>
          <p:cNvSpPr/>
          <p:nvPr/>
        </p:nvSpPr>
        <p:spPr>
          <a:xfrm>
            <a:off x="457200" y="35661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566160"/>
            <a:ext cx="64008" cy="804672"/>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657600"/>
            <a:ext cx="5225796" cy="667512"/>
          </a:xfrm>
          <a:prstGeom prst="rect">
            <a:avLst/>
          </a:prstGeom>
          <a:noFill/>
        </p:spPr>
        <p:txBody>
          <a:bodyPr wrap="square">
            <a:spAutoFit/>
          </a:bodyPr>
          <a:lstStyle/>
          <a:p>
            <a:pPr algn="l"/>
            <a:r>
              <a:rPr sz="1100" b="0">
                <a:solidFill>
                  <a:srgbClr val="1E3A2F"/>
                </a:solidFill>
                <a:latin typeface="Calibri"/>
              </a:rPr>
              <a:t>Regulatory Risk: regulatory risk for sponsors in diverse recruitment</a:t>
            </a:r>
          </a:p>
        </p:txBody>
      </p:sp>
      <p:sp>
        <p:nvSpPr>
          <p:cNvPr id="16" name="Rectangle 15"/>
          <p:cNvSpPr/>
          <p:nvPr/>
        </p:nvSpPr>
        <p:spPr>
          <a:xfrm>
            <a:off x="6277356" y="1143000"/>
            <a:ext cx="5454396" cy="50292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8796" y="1216152"/>
            <a:ext cx="5271516" cy="365760"/>
          </a:xfrm>
          <a:prstGeom prst="rect">
            <a:avLst/>
          </a:prstGeom>
          <a:noFill/>
        </p:spPr>
        <p:txBody>
          <a:bodyPr wrap="square">
            <a:spAutoFit/>
          </a:bodyPr>
          <a:lstStyle/>
          <a:p>
            <a:pPr algn="ctr"/>
            <a:r>
              <a:rPr sz="1300" b="1">
                <a:solidFill>
                  <a:srgbClr val="FFFFFF"/>
                </a:solidFill>
                <a:latin typeface="Calibri"/>
              </a:rPr>
              <a:t>SPONSOR COSTS</a:t>
            </a:r>
          </a:p>
        </p:txBody>
      </p:sp>
      <p:sp>
        <p:nvSpPr>
          <p:cNvPr id="18" name="Rectangle 17"/>
          <p:cNvSpPr/>
          <p:nvPr/>
        </p:nvSpPr>
        <p:spPr>
          <a:xfrm>
            <a:off x="6277356" y="17373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77356" y="1737360"/>
            <a:ext cx="64008" cy="80467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1948" y="1828800"/>
            <a:ext cx="5225796" cy="667512"/>
          </a:xfrm>
          <a:prstGeom prst="rect">
            <a:avLst/>
          </a:prstGeom>
          <a:noFill/>
        </p:spPr>
        <p:txBody>
          <a:bodyPr wrap="square">
            <a:spAutoFit/>
          </a:bodyPr>
          <a:lstStyle/>
          <a:p>
            <a:pPr algn="l"/>
            <a:r>
              <a:rPr sz="1100" b="0">
                <a:solidFill>
                  <a:srgbClr val="1E3A2F"/>
                </a:solidFill>
                <a:latin typeface="Calibri"/>
              </a:rPr>
              <a:t>Compliance Costs: compliance costs for sponsors in diverse recruitment</a:t>
            </a:r>
          </a:p>
        </p:txBody>
      </p:sp>
      <p:sp>
        <p:nvSpPr>
          <p:cNvPr id="21" name="Rectangle 20"/>
          <p:cNvSpPr/>
          <p:nvPr/>
        </p:nvSpPr>
        <p:spPr>
          <a:xfrm>
            <a:off x="6277356" y="26517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77356" y="2651760"/>
            <a:ext cx="64008" cy="80467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41948" y="2743200"/>
            <a:ext cx="5225796" cy="667512"/>
          </a:xfrm>
          <a:prstGeom prst="rect">
            <a:avLst/>
          </a:prstGeom>
          <a:noFill/>
        </p:spPr>
        <p:txBody>
          <a:bodyPr wrap="square">
            <a:spAutoFit/>
          </a:bodyPr>
          <a:lstStyle/>
          <a:p>
            <a:pPr algn="l"/>
            <a:r>
              <a:rPr sz="1100" b="0">
                <a:solidFill>
                  <a:srgbClr val="1E3A2F"/>
                </a:solidFill>
                <a:latin typeface="Calibri"/>
              </a:rPr>
              <a:t>Enrollment Goals: enrollment goals for sponsors in diverse recruitment</a:t>
            </a:r>
          </a:p>
        </p:txBody>
      </p:sp>
      <p:sp>
        <p:nvSpPr>
          <p:cNvPr id="24" name="Rectangle 23"/>
          <p:cNvSpPr/>
          <p:nvPr/>
        </p:nvSpPr>
        <p:spPr>
          <a:xfrm>
            <a:off x="6277356" y="3566160"/>
            <a:ext cx="5454396" cy="804672"/>
          </a:xfrm>
          <a:prstGeom prst="rect">
            <a:avLst/>
          </a:prstGeom>
          <a:solidFill>
            <a:srgbClr val="F0F4F1"/>
          </a:solidFill>
          <a:ln w="6350">
            <a:solidFill>
              <a:srgbClr val="E0E0E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77356" y="3566160"/>
            <a:ext cx="64008" cy="804672"/>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1948" y="3657600"/>
            <a:ext cx="5225796" cy="667512"/>
          </a:xfrm>
          <a:prstGeom prst="rect">
            <a:avLst/>
          </a:prstGeom>
          <a:noFill/>
        </p:spPr>
        <p:txBody>
          <a:bodyPr wrap="square">
            <a:spAutoFit/>
          </a:bodyPr>
          <a:lstStyle/>
          <a:p>
            <a:pPr algn="l"/>
            <a:r>
              <a:rPr sz="1100" b="0">
                <a:solidFill>
                  <a:srgbClr val="1E3A2F"/>
                </a:solidFill>
                <a:latin typeface="Calibri"/>
              </a:rPr>
              <a:t>Budget Pressures: budget pressures for sponsors in diverse recruitment</a:t>
            </a:r>
          </a:p>
        </p:txBody>
      </p:sp>
      <p:sp>
        <p:nvSpPr>
          <p:cNvPr id="27" name="Rectangle 26"/>
          <p:cNvSpPr/>
          <p:nvPr/>
        </p:nvSpPr>
        <p:spPr>
          <a:xfrm>
            <a:off x="6048756" y="1143000"/>
            <a:ext cx="54864" cy="544068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91440" y="0"/>
            <a:ext cx="3749039" cy="6858000"/>
          </a:xfrm>
          <a:prstGeom prst="rect">
            <a:avLst/>
          </a:prstGeom>
        </p:spPr>
      </p:pic>
      <p:sp>
        <p:nvSpPr>
          <p:cNvPr id="5" name="Rectangle 4"/>
          <p:cNvSpPr/>
          <p:nvPr/>
        </p:nvSpPr>
        <p:spPr>
          <a:solidFill>
            <a:srgbClr val="1E3A2F">
              <a:alpha val="62745"/>
            </a:srgbClr>
          </a:solidFill>
          <a:xfrm>
            <a:off x="91440" y="0"/>
            <a:ext cx="3749039"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14400"/>
            <a:ext cx="3383280" cy="2560320"/>
          </a:xfrm>
          <a:prstGeom prst="rect">
            <a:avLst/>
          </a:prstGeom>
          <a:noFill/>
        </p:spPr>
        <p:txBody>
          <a:bodyPr wrap="square">
            <a:spAutoFit/>
          </a:bodyPr>
          <a:lstStyle/>
          <a:p>
            <a:pPr algn="l"/>
            <a:r>
              <a:rPr sz="2600" b="1">
                <a:solidFill>
                  <a:srgbClr val="FFFFFF"/>
                </a:solidFill>
                <a:latin typeface="Calibri"/>
              </a:rPr>
              <a:t>Technology Solutions for Diverse Recruitment</a:t>
            </a:r>
          </a:p>
        </p:txBody>
      </p:sp>
      <p:sp>
        <p:nvSpPr>
          <p:cNvPr id="7" name="Rectangle 6"/>
          <p:cNvSpPr/>
          <p:nvPr/>
        </p:nvSpPr>
        <p:spPr>
          <a:xfrm>
            <a:off x="4114800" y="137160"/>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0" y="137160"/>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40" y="513892"/>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1</a:t>
            </a:r>
          </a:p>
        </p:txBody>
      </p:sp>
      <p:sp>
        <p:nvSpPr>
          <p:cNvPr id="10" name="TextBox 9"/>
          <p:cNvSpPr txBox="1"/>
          <p:nvPr/>
        </p:nvSpPr>
        <p:spPr>
          <a:xfrm>
            <a:off x="4800600" y="210312"/>
            <a:ext cx="7068312" cy="347472"/>
          </a:xfrm>
          <a:prstGeom prst="rect">
            <a:avLst/>
          </a:prstGeom>
          <a:noFill/>
        </p:spPr>
        <p:txBody>
          <a:bodyPr wrap="square">
            <a:spAutoFit/>
          </a:bodyPr>
          <a:lstStyle/>
          <a:p>
            <a:pPr algn="l"/>
            <a:r>
              <a:rPr sz="1300" b="1">
                <a:solidFill>
                  <a:srgbClr val="4A7C59"/>
                </a:solidFill>
                <a:latin typeface="Calibri"/>
              </a:rPr>
              <a:t>Digital Platforms</a:t>
            </a:r>
          </a:p>
        </p:txBody>
      </p:sp>
      <p:sp>
        <p:nvSpPr>
          <p:cNvPr id="11" name="TextBox 10"/>
          <p:cNvSpPr txBox="1"/>
          <p:nvPr/>
        </p:nvSpPr>
        <p:spPr>
          <a:xfrm>
            <a:off x="4800600" y="521208"/>
            <a:ext cx="7068312" cy="771753"/>
          </a:xfrm>
          <a:prstGeom prst="rect">
            <a:avLst/>
          </a:prstGeom>
          <a:noFill/>
        </p:spPr>
        <p:txBody>
          <a:bodyPr wrap="square">
            <a:spAutoFit/>
          </a:bodyPr>
          <a:lstStyle/>
          <a:p>
            <a:pPr algn="l"/>
            <a:r>
              <a:rPr sz="1100" b="0">
                <a:solidFill>
                  <a:srgbClr val="1E3A2F"/>
                </a:solidFill>
                <a:latin typeface="Calibri"/>
              </a:rPr>
              <a:t>use of digital platforms to enhance recruitment</a:t>
            </a:r>
          </a:p>
        </p:txBody>
      </p:sp>
      <p:sp>
        <p:nvSpPr>
          <p:cNvPr id="12" name="Rectangle 11"/>
          <p:cNvSpPr/>
          <p:nvPr/>
        </p:nvSpPr>
        <p:spPr>
          <a:xfrm>
            <a:off x="4114800" y="1475841"/>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1475841"/>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06240" y="1852574"/>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2</a:t>
            </a:r>
          </a:p>
        </p:txBody>
      </p:sp>
      <p:sp>
        <p:nvSpPr>
          <p:cNvPr id="15" name="TextBox 14"/>
          <p:cNvSpPr txBox="1"/>
          <p:nvPr/>
        </p:nvSpPr>
        <p:spPr>
          <a:xfrm>
            <a:off x="4800600" y="1548993"/>
            <a:ext cx="7068312" cy="347472"/>
          </a:xfrm>
          <a:prstGeom prst="rect">
            <a:avLst/>
          </a:prstGeom>
          <a:noFill/>
        </p:spPr>
        <p:txBody>
          <a:bodyPr wrap="square">
            <a:spAutoFit/>
          </a:bodyPr>
          <a:lstStyle/>
          <a:p>
            <a:pPr algn="l"/>
            <a:r>
              <a:rPr sz="1300" b="1">
                <a:solidFill>
                  <a:srgbClr val="4A7C59"/>
                </a:solidFill>
                <a:latin typeface="Calibri"/>
              </a:rPr>
              <a:t>AI-Driven Tools</a:t>
            </a:r>
          </a:p>
        </p:txBody>
      </p:sp>
      <p:sp>
        <p:nvSpPr>
          <p:cNvPr id="16" name="TextBox 15"/>
          <p:cNvSpPr txBox="1"/>
          <p:nvPr/>
        </p:nvSpPr>
        <p:spPr>
          <a:xfrm>
            <a:off x="4800600" y="1859889"/>
            <a:ext cx="7068312" cy="771753"/>
          </a:xfrm>
          <a:prstGeom prst="rect">
            <a:avLst/>
          </a:prstGeom>
          <a:noFill/>
        </p:spPr>
        <p:txBody>
          <a:bodyPr wrap="square">
            <a:spAutoFit/>
          </a:bodyPr>
          <a:lstStyle/>
          <a:p>
            <a:pPr algn="l"/>
            <a:r>
              <a:rPr sz="1100" b="0">
                <a:solidFill>
                  <a:srgbClr val="1E3A2F"/>
                </a:solidFill>
                <a:latin typeface="Calibri"/>
              </a:rPr>
              <a:t>use of AI-driven tools to improve eligibility and enrollment</a:t>
            </a:r>
          </a:p>
        </p:txBody>
      </p:sp>
      <p:sp>
        <p:nvSpPr>
          <p:cNvPr id="17" name="Rectangle 16"/>
          <p:cNvSpPr/>
          <p:nvPr/>
        </p:nvSpPr>
        <p:spPr>
          <a:xfrm>
            <a:off x="4114800" y="2814523"/>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0" y="2814523"/>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06240" y="3191256"/>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3</a:t>
            </a:r>
          </a:p>
        </p:txBody>
      </p:sp>
      <p:sp>
        <p:nvSpPr>
          <p:cNvPr id="20" name="TextBox 19"/>
          <p:cNvSpPr txBox="1"/>
          <p:nvPr/>
        </p:nvSpPr>
        <p:spPr>
          <a:xfrm>
            <a:off x="4800600" y="2887675"/>
            <a:ext cx="7068312" cy="347472"/>
          </a:xfrm>
          <a:prstGeom prst="rect">
            <a:avLst/>
          </a:prstGeom>
          <a:noFill/>
        </p:spPr>
        <p:txBody>
          <a:bodyPr wrap="square">
            <a:spAutoFit/>
          </a:bodyPr>
          <a:lstStyle/>
          <a:p>
            <a:pPr algn="l"/>
            <a:r>
              <a:rPr sz="1300" b="1">
                <a:solidFill>
                  <a:srgbClr val="4A7C59"/>
                </a:solidFill>
                <a:latin typeface="Calibri"/>
              </a:rPr>
              <a:t>Data Analytics</a:t>
            </a:r>
          </a:p>
        </p:txBody>
      </p:sp>
      <p:sp>
        <p:nvSpPr>
          <p:cNvPr id="21" name="TextBox 20"/>
          <p:cNvSpPr txBox="1"/>
          <p:nvPr/>
        </p:nvSpPr>
        <p:spPr>
          <a:xfrm>
            <a:off x="4800600" y="3198571"/>
            <a:ext cx="7068312" cy="771753"/>
          </a:xfrm>
          <a:prstGeom prst="rect">
            <a:avLst/>
          </a:prstGeom>
          <a:noFill/>
        </p:spPr>
        <p:txBody>
          <a:bodyPr wrap="square">
            <a:spAutoFit/>
          </a:bodyPr>
          <a:lstStyle/>
          <a:p>
            <a:pPr algn="l"/>
            <a:r>
              <a:rPr sz="1100" b="0">
                <a:solidFill>
                  <a:srgbClr val="1E3A2F"/>
                </a:solidFill>
                <a:latin typeface="Calibri"/>
              </a:rPr>
              <a:t>use of data analytics to track recruitment and enrollment</a:t>
            </a:r>
          </a:p>
        </p:txBody>
      </p:sp>
      <p:sp>
        <p:nvSpPr>
          <p:cNvPr id="22" name="Rectangle 21"/>
          <p:cNvSpPr/>
          <p:nvPr/>
        </p:nvSpPr>
        <p:spPr>
          <a:xfrm>
            <a:off x="4114800" y="4153204"/>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0" y="4153204"/>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06240" y="4529937"/>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4</a:t>
            </a:r>
          </a:p>
        </p:txBody>
      </p:sp>
      <p:sp>
        <p:nvSpPr>
          <p:cNvPr id="25" name="TextBox 24"/>
          <p:cNvSpPr txBox="1"/>
          <p:nvPr/>
        </p:nvSpPr>
        <p:spPr>
          <a:xfrm>
            <a:off x="4800600" y="4226356"/>
            <a:ext cx="7068312" cy="347472"/>
          </a:xfrm>
          <a:prstGeom prst="rect">
            <a:avLst/>
          </a:prstGeom>
          <a:noFill/>
        </p:spPr>
        <p:txBody>
          <a:bodyPr wrap="square">
            <a:spAutoFit/>
          </a:bodyPr>
          <a:lstStyle/>
          <a:p>
            <a:pPr algn="l"/>
            <a:r>
              <a:rPr sz="1300" b="1">
                <a:solidFill>
                  <a:srgbClr val="4A7C59"/>
                </a:solidFill>
                <a:latin typeface="Calibri"/>
              </a:rPr>
              <a:t>Virtual Trials</a:t>
            </a:r>
          </a:p>
        </p:txBody>
      </p:sp>
      <p:sp>
        <p:nvSpPr>
          <p:cNvPr id="26" name="TextBox 25"/>
          <p:cNvSpPr txBox="1"/>
          <p:nvPr/>
        </p:nvSpPr>
        <p:spPr>
          <a:xfrm>
            <a:off x="4800600" y="4537252"/>
            <a:ext cx="7068312" cy="771753"/>
          </a:xfrm>
          <a:prstGeom prst="rect">
            <a:avLst/>
          </a:prstGeom>
          <a:noFill/>
        </p:spPr>
        <p:txBody>
          <a:bodyPr wrap="square">
            <a:spAutoFit/>
          </a:bodyPr>
          <a:lstStyle/>
          <a:p>
            <a:pPr algn="l"/>
            <a:r>
              <a:rPr sz="1100" b="0">
                <a:solidFill>
                  <a:srgbClr val="1E3A2F"/>
                </a:solidFill>
                <a:latin typeface="Calibri"/>
              </a:rPr>
              <a:t>use of virtual trials to increase accessibility and diversity</a:t>
            </a:r>
          </a:p>
        </p:txBody>
      </p:sp>
      <p:sp>
        <p:nvSpPr>
          <p:cNvPr id="27" name="Rectangle 26"/>
          <p:cNvSpPr/>
          <p:nvPr/>
        </p:nvSpPr>
        <p:spPr>
          <a:xfrm>
            <a:off x="4114800" y="5491886"/>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0" y="5491886"/>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06240" y="5868619"/>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5</a:t>
            </a:r>
          </a:p>
        </p:txBody>
      </p:sp>
      <p:sp>
        <p:nvSpPr>
          <p:cNvPr id="30" name="TextBox 29"/>
          <p:cNvSpPr txBox="1"/>
          <p:nvPr/>
        </p:nvSpPr>
        <p:spPr>
          <a:xfrm>
            <a:off x="4800600" y="5565038"/>
            <a:ext cx="7068312" cy="347472"/>
          </a:xfrm>
          <a:prstGeom prst="rect">
            <a:avLst/>
          </a:prstGeom>
          <a:noFill/>
        </p:spPr>
        <p:txBody>
          <a:bodyPr wrap="square">
            <a:spAutoFit/>
          </a:bodyPr>
          <a:lstStyle/>
          <a:p>
            <a:pPr algn="l"/>
            <a:r>
              <a:rPr sz="1300" b="1">
                <a:solidFill>
                  <a:srgbClr val="4A7C59"/>
                </a:solidFill>
                <a:latin typeface="Calibri"/>
              </a:rPr>
              <a:t>Patient Engagement</a:t>
            </a:r>
          </a:p>
        </p:txBody>
      </p:sp>
      <p:sp>
        <p:nvSpPr>
          <p:cNvPr id="31" name="TextBox 30"/>
          <p:cNvSpPr txBox="1"/>
          <p:nvPr/>
        </p:nvSpPr>
        <p:spPr>
          <a:xfrm>
            <a:off x="4800600" y="5875934"/>
            <a:ext cx="7068312" cy="771753"/>
          </a:xfrm>
          <a:prstGeom prst="rect">
            <a:avLst/>
          </a:prstGeom>
          <a:noFill/>
        </p:spPr>
        <p:txBody>
          <a:bodyPr wrap="square">
            <a:spAutoFit/>
          </a:bodyPr>
          <a:lstStyle/>
          <a:p>
            <a:pPr algn="l"/>
            <a:r>
              <a:rPr sz="1100" b="0">
                <a:solidFill>
                  <a:srgbClr val="1E3A2F"/>
                </a:solidFill>
                <a:latin typeface="Calibri"/>
              </a:rPr>
              <a:t>patient engagement and retention strategies</a:t>
            </a:r>
          </a:p>
        </p:txBody>
      </p:sp>
      <p:sp>
        <p:nvSpPr>
          <p:cNvPr id="32" name="TextBox 31"/>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91440" y="0"/>
            <a:ext cx="12097512" cy="10058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137160"/>
            <a:ext cx="11430000" cy="731520"/>
          </a:xfrm>
          <a:prstGeom prst="rect">
            <a:avLst/>
          </a:prstGeom>
          <a:noFill/>
        </p:spPr>
        <p:txBody>
          <a:bodyPr wrap="square">
            <a:spAutoFit/>
          </a:bodyPr>
          <a:lstStyle/>
          <a:p>
            <a:pPr algn="l"/>
            <a:r>
              <a:rPr sz="2400" b="1">
                <a:solidFill>
                  <a:srgbClr val="FFFFFF"/>
                </a:solidFill>
                <a:latin typeface="Calibri"/>
              </a:rPr>
              <a:t>Economic Impact Analysis</a:t>
            </a:r>
          </a:p>
        </p:txBody>
      </p:sp>
      <p:pic>
        <p:nvPicPr>
          <p:cNvPr id="6" name="Picture 5" descr="rings.png"/>
          <p:cNvPicPr>
            <a:picLocks noChangeAspect="1"/>
          </p:cNvPicPr>
          <p:nvPr/>
        </p:nvPicPr>
        <p:blipFill>
          <a:blip r:embed="rId2"/>
          <a:stretch>
            <a:fillRect/>
          </a:stretch>
        </p:blipFill>
        <p:spPr>
          <a:xfrm>
            <a:off x="457200" y="1280160"/>
            <a:ext cx="11247120" cy="5212080"/>
          </a:xfrm>
          <a:prstGeom prst="rect">
            <a:avLst/>
          </a:prstGeom>
        </p:spPr>
      </p:pic>
      <p:sp>
        <p:nvSpPr>
          <p:cNvPr id="7" name="TextBox 6"/>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3A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jpg"/>
          <p:cNvPicPr>
            <a:picLocks noChangeAspect="1"/>
          </p:cNvPicPr>
          <p:nvPr/>
        </p:nvPicPr>
        <p:blipFill>
          <a:blip r:embed="rId2"/>
          <a:stretch>
            <a:fillRect/>
          </a:stretch>
        </p:blipFill>
        <p:spPr>
          <a:xfrm>
            <a:off x="91440" y="0"/>
            <a:ext cx="3749039" cy="6858000"/>
          </a:xfrm>
          <a:prstGeom prst="rect">
            <a:avLst/>
          </a:prstGeom>
        </p:spPr>
      </p:pic>
      <p:sp>
        <p:nvSpPr>
          <p:cNvPr id="5" name="Rectangle 4"/>
          <p:cNvSpPr/>
          <p:nvPr/>
        </p:nvSpPr>
        <p:spPr>
          <a:solidFill>
            <a:srgbClr val="1E3A2F">
              <a:alpha val="62745"/>
            </a:srgbClr>
          </a:solidFill>
          <a:xfrm>
            <a:off x="91440" y="0"/>
            <a:ext cx="3749039"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914400"/>
            <a:ext cx="3383280" cy="2560320"/>
          </a:xfrm>
          <a:prstGeom prst="rect">
            <a:avLst/>
          </a:prstGeom>
          <a:noFill/>
        </p:spPr>
        <p:txBody>
          <a:bodyPr wrap="square">
            <a:spAutoFit/>
          </a:bodyPr>
          <a:lstStyle/>
          <a:p>
            <a:pPr algn="l"/>
            <a:r>
              <a:rPr sz="2600" b="1">
                <a:solidFill>
                  <a:srgbClr val="FFFFFF"/>
                </a:solidFill>
                <a:latin typeface="Calibri"/>
              </a:rPr>
              <a:t>Balancing Regulatory Requirements with Economic Realities</a:t>
            </a:r>
          </a:p>
        </p:txBody>
      </p:sp>
      <p:sp>
        <p:nvSpPr>
          <p:cNvPr id="7" name="Rectangle 6"/>
          <p:cNvSpPr/>
          <p:nvPr/>
        </p:nvSpPr>
        <p:spPr>
          <a:xfrm>
            <a:off x="4114800" y="137160"/>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114800" y="137160"/>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206240" y="513892"/>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1</a:t>
            </a:r>
          </a:p>
        </p:txBody>
      </p:sp>
      <p:sp>
        <p:nvSpPr>
          <p:cNvPr id="10" name="TextBox 9"/>
          <p:cNvSpPr txBox="1"/>
          <p:nvPr/>
        </p:nvSpPr>
        <p:spPr>
          <a:xfrm>
            <a:off x="4800600" y="210312"/>
            <a:ext cx="7068312" cy="347472"/>
          </a:xfrm>
          <a:prstGeom prst="rect">
            <a:avLst/>
          </a:prstGeom>
          <a:noFill/>
        </p:spPr>
        <p:txBody>
          <a:bodyPr wrap="square">
            <a:spAutoFit/>
          </a:bodyPr>
          <a:lstStyle/>
          <a:p>
            <a:pPr algn="l"/>
            <a:r>
              <a:rPr sz="1300" b="1">
                <a:solidFill>
                  <a:srgbClr val="4A7C59"/>
                </a:solidFill>
                <a:latin typeface="Calibri"/>
              </a:rPr>
              <a:t>Regulatory Compliance</a:t>
            </a:r>
          </a:p>
        </p:txBody>
      </p:sp>
      <p:sp>
        <p:nvSpPr>
          <p:cNvPr id="11" name="TextBox 10"/>
          <p:cNvSpPr txBox="1"/>
          <p:nvPr/>
        </p:nvSpPr>
        <p:spPr>
          <a:xfrm>
            <a:off x="4800600" y="521208"/>
            <a:ext cx="7068312" cy="771753"/>
          </a:xfrm>
          <a:prstGeom prst="rect">
            <a:avLst/>
          </a:prstGeom>
          <a:noFill/>
        </p:spPr>
        <p:txBody>
          <a:bodyPr wrap="square">
            <a:spAutoFit/>
          </a:bodyPr>
          <a:lstStyle/>
          <a:p>
            <a:pPr algn="l"/>
            <a:r>
              <a:rPr sz="1100" b="0">
                <a:solidFill>
                  <a:srgbClr val="1E3A2F"/>
                </a:solidFill>
                <a:latin typeface="Calibri"/>
              </a:rPr>
              <a:t>ensuring regulatory compliance in diverse recruitment</a:t>
            </a:r>
          </a:p>
        </p:txBody>
      </p:sp>
      <p:sp>
        <p:nvSpPr>
          <p:cNvPr id="12" name="Rectangle 11"/>
          <p:cNvSpPr/>
          <p:nvPr/>
        </p:nvSpPr>
        <p:spPr>
          <a:xfrm>
            <a:off x="4114800" y="1475841"/>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114800" y="1475841"/>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206240" y="1852574"/>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2</a:t>
            </a:r>
          </a:p>
        </p:txBody>
      </p:sp>
      <p:sp>
        <p:nvSpPr>
          <p:cNvPr id="15" name="TextBox 14"/>
          <p:cNvSpPr txBox="1"/>
          <p:nvPr/>
        </p:nvSpPr>
        <p:spPr>
          <a:xfrm>
            <a:off x="4800600" y="1548993"/>
            <a:ext cx="7068312" cy="347472"/>
          </a:xfrm>
          <a:prstGeom prst="rect">
            <a:avLst/>
          </a:prstGeom>
          <a:noFill/>
        </p:spPr>
        <p:txBody>
          <a:bodyPr wrap="square">
            <a:spAutoFit/>
          </a:bodyPr>
          <a:lstStyle/>
          <a:p>
            <a:pPr algn="l"/>
            <a:r>
              <a:rPr sz="1300" b="1">
                <a:solidFill>
                  <a:srgbClr val="4A7C59"/>
                </a:solidFill>
                <a:latin typeface="Calibri"/>
              </a:rPr>
              <a:t>Economic Pressures</a:t>
            </a:r>
          </a:p>
        </p:txBody>
      </p:sp>
      <p:sp>
        <p:nvSpPr>
          <p:cNvPr id="16" name="TextBox 15"/>
          <p:cNvSpPr txBox="1"/>
          <p:nvPr/>
        </p:nvSpPr>
        <p:spPr>
          <a:xfrm>
            <a:off x="4800600" y="1859889"/>
            <a:ext cx="7068312" cy="771753"/>
          </a:xfrm>
          <a:prstGeom prst="rect">
            <a:avLst/>
          </a:prstGeom>
          <a:noFill/>
        </p:spPr>
        <p:txBody>
          <a:bodyPr wrap="square">
            <a:spAutoFit/>
          </a:bodyPr>
          <a:lstStyle/>
          <a:p>
            <a:pPr algn="l"/>
            <a:r>
              <a:rPr sz="1100" b="0">
                <a:solidFill>
                  <a:srgbClr val="1E3A2F"/>
                </a:solidFill>
                <a:latin typeface="Calibri"/>
              </a:rPr>
              <a:t>managing economic pressures in diverse recruitment</a:t>
            </a:r>
          </a:p>
        </p:txBody>
      </p:sp>
      <p:sp>
        <p:nvSpPr>
          <p:cNvPr id="17" name="Rectangle 16"/>
          <p:cNvSpPr/>
          <p:nvPr/>
        </p:nvSpPr>
        <p:spPr>
          <a:xfrm>
            <a:off x="4114800" y="2814523"/>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114800" y="2814523"/>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206240" y="3191256"/>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3</a:t>
            </a:r>
          </a:p>
        </p:txBody>
      </p:sp>
      <p:sp>
        <p:nvSpPr>
          <p:cNvPr id="20" name="TextBox 19"/>
          <p:cNvSpPr txBox="1"/>
          <p:nvPr/>
        </p:nvSpPr>
        <p:spPr>
          <a:xfrm>
            <a:off x="4800600" y="2887675"/>
            <a:ext cx="7068312" cy="347472"/>
          </a:xfrm>
          <a:prstGeom prst="rect">
            <a:avLst/>
          </a:prstGeom>
          <a:noFill/>
        </p:spPr>
        <p:txBody>
          <a:bodyPr wrap="square">
            <a:spAutoFit/>
          </a:bodyPr>
          <a:lstStyle/>
          <a:p>
            <a:pPr algn="l"/>
            <a:r>
              <a:rPr sz="1300" b="1">
                <a:solidFill>
                  <a:srgbClr val="4A7C59"/>
                </a:solidFill>
                <a:latin typeface="Calibri"/>
              </a:rPr>
              <a:t>Enrollment Goals</a:t>
            </a:r>
          </a:p>
        </p:txBody>
      </p:sp>
      <p:sp>
        <p:nvSpPr>
          <p:cNvPr id="21" name="TextBox 20"/>
          <p:cNvSpPr txBox="1"/>
          <p:nvPr/>
        </p:nvSpPr>
        <p:spPr>
          <a:xfrm>
            <a:off x="4800600" y="3198571"/>
            <a:ext cx="7068312" cy="771753"/>
          </a:xfrm>
          <a:prstGeom prst="rect">
            <a:avLst/>
          </a:prstGeom>
          <a:noFill/>
        </p:spPr>
        <p:txBody>
          <a:bodyPr wrap="square">
            <a:spAutoFit/>
          </a:bodyPr>
          <a:lstStyle/>
          <a:p>
            <a:pPr algn="l"/>
            <a:r>
              <a:rPr sz="1100" b="0">
                <a:solidFill>
                  <a:srgbClr val="1E3A2F"/>
                </a:solidFill>
                <a:latin typeface="Calibri"/>
              </a:rPr>
              <a:t>achieving enrollment goals in diverse recruitment</a:t>
            </a:r>
          </a:p>
        </p:txBody>
      </p:sp>
      <p:sp>
        <p:nvSpPr>
          <p:cNvPr id="22" name="Rectangle 21"/>
          <p:cNvSpPr/>
          <p:nvPr/>
        </p:nvSpPr>
        <p:spPr>
          <a:xfrm>
            <a:off x="4114800" y="4153204"/>
            <a:ext cx="7845552" cy="1228953"/>
          </a:xfrm>
          <a:prstGeom prst="rect">
            <a:avLst/>
          </a:prstGeom>
          <a:solidFill>
            <a:srgbClr val="FFFFFF"/>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114800" y="4153204"/>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206240" y="4529937"/>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4</a:t>
            </a:r>
          </a:p>
        </p:txBody>
      </p:sp>
      <p:sp>
        <p:nvSpPr>
          <p:cNvPr id="25" name="TextBox 24"/>
          <p:cNvSpPr txBox="1"/>
          <p:nvPr/>
        </p:nvSpPr>
        <p:spPr>
          <a:xfrm>
            <a:off x="4800600" y="4226356"/>
            <a:ext cx="7068312" cy="347472"/>
          </a:xfrm>
          <a:prstGeom prst="rect">
            <a:avLst/>
          </a:prstGeom>
          <a:noFill/>
        </p:spPr>
        <p:txBody>
          <a:bodyPr wrap="square">
            <a:spAutoFit/>
          </a:bodyPr>
          <a:lstStyle/>
          <a:p>
            <a:pPr algn="l"/>
            <a:r>
              <a:rPr sz="1300" b="1">
                <a:solidFill>
                  <a:srgbClr val="4A7C59"/>
                </a:solidFill>
                <a:latin typeface="Calibri"/>
              </a:rPr>
              <a:t>Patient Engagement</a:t>
            </a:r>
          </a:p>
        </p:txBody>
      </p:sp>
      <p:sp>
        <p:nvSpPr>
          <p:cNvPr id="26" name="TextBox 25"/>
          <p:cNvSpPr txBox="1"/>
          <p:nvPr/>
        </p:nvSpPr>
        <p:spPr>
          <a:xfrm>
            <a:off x="4800600" y="4537252"/>
            <a:ext cx="7068312" cy="771753"/>
          </a:xfrm>
          <a:prstGeom prst="rect">
            <a:avLst/>
          </a:prstGeom>
          <a:noFill/>
        </p:spPr>
        <p:txBody>
          <a:bodyPr wrap="square">
            <a:spAutoFit/>
          </a:bodyPr>
          <a:lstStyle/>
          <a:p>
            <a:pPr algn="l"/>
            <a:r>
              <a:rPr sz="1100" b="0">
                <a:solidFill>
                  <a:srgbClr val="1E3A2F"/>
                </a:solidFill>
                <a:latin typeface="Calibri"/>
              </a:rPr>
              <a:t>patient engagement and retention strategies</a:t>
            </a:r>
          </a:p>
        </p:txBody>
      </p:sp>
      <p:sp>
        <p:nvSpPr>
          <p:cNvPr id="27" name="Rectangle 26"/>
          <p:cNvSpPr/>
          <p:nvPr/>
        </p:nvSpPr>
        <p:spPr>
          <a:xfrm>
            <a:off x="4114800" y="5491886"/>
            <a:ext cx="7845552" cy="1228953"/>
          </a:xfrm>
          <a:prstGeom prst="rect">
            <a:avLst/>
          </a:prstGeom>
          <a:solidFill>
            <a:srgbClr val="F0F4F1"/>
          </a:solidFill>
          <a:ln w="6350">
            <a:solidFill>
              <a:srgbClr val="E8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114800" y="5491886"/>
            <a:ext cx="64008" cy="1228953"/>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4206240" y="5868619"/>
            <a:ext cx="475488" cy="475488"/>
          </a:xfrm>
          <a:prstGeom prst="ellipse">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Calibri"/>
              </a:rPr>
              <a:t>5</a:t>
            </a:r>
          </a:p>
        </p:txBody>
      </p:sp>
      <p:sp>
        <p:nvSpPr>
          <p:cNvPr id="30" name="TextBox 29"/>
          <p:cNvSpPr txBox="1"/>
          <p:nvPr/>
        </p:nvSpPr>
        <p:spPr>
          <a:xfrm>
            <a:off x="4800600" y="5565038"/>
            <a:ext cx="7068312" cy="347472"/>
          </a:xfrm>
          <a:prstGeom prst="rect">
            <a:avLst/>
          </a:prstGeom>
          <a:noFill/>
        </p:spPr>
        <p:txBody>
          <a:bodyPr wrap="square">
            <a:spAutoFit/>
          </a:bodyPr>
          <a:lstStyle/>
          <a:p>
            <a:pPr algn="l"/>
            <a:r>
              <a:rPr sz="1300" b="1">
                <a:solidFill>
                  <a:srgbClr val="4A7C59"/>
                </a:solidFill>
                <a:latin typeface="Calibri"/>
              </a:rPr>
              <a:t>Sustainability</a:t>
            </a:r>
          </a:p>
        </p:txBody>
      </p:sp>
      <p:sp>
        <p:nvSpPr>
          <p:cNvPr id="31" name="TextBox 30"/>
          <p:cNvSpPr txBox="1"/>
          <p:nvPr/>
        </p:nvSpPr>
        <p:spPr>
          <a:xfrm>
            <a:off x="4800600" y="5875934"/>
            <a:ext cx="7068312" cy="771753"/>
          </a:xfrm>
          <a:prstGeom prst="rect">
            <a:avLst/>
          </a:prstGeom>
          <a:noFill/>
        </p:spPr>
        <p:txBody>
          <a:bodyPr wrap="square">
            <a:spAutoFit/>
          </a:bodyPr>
          <a:lstStyle/>
          <a:p>
            <a:pPr algn="l"/>
            <a:r>
              <a:rPr sz="1100" b="0">
                <a:solidFill>
                  <a:srgbClr val="1E3A2F"/>
                </a:solidFill>
                <a:latin typeface="Calibri"/>
              </a:rPr>
              <a:t>ensuring sustainability in diverse recruitment</a:t>
            </a:r>
          </a:p>
        </p:txBody>
      </p:sp>
      <p:sp>
        <p:nvSpPr>
          <p:cNvPr id="32" name="TextBox 31"/>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solidFill>
            <a:srgbClr val="0A0A0A">
              <a:alpha val="68627"/>
            </a:srgbClr>
          </a:solidFill>
          <a:xfrm>
            <a:off x="0" y="0"/>
            <a:ext cx="12188952"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943600" cy="685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74320"/>
            <a:ext cx="5486400" cy="822960"/>
          </a:xfrm>
          <a:prstGeom prst="rect">
            <a:avLst/>
          </a:prstGeom>
          <a:noFill/>
        </p:spPr>
        <p:txBody>
          <a:bodyPr wrap="square">
            <a:spAutoFit/>
          </a:bodyPr>
          <a:lstStyle/>
          <a:p>
            <a:pPr algn="l"/>
            <a:r>
              <a:rPr sz="2800" b="1">
                <a:solidFill>
                  <a:srgbClr val="FFFFFF"/>
                </a:solidFill>
                <a:latin typeface="Calibri"/>
              </a:rPr>
              <a:t>Conclusion</a:t>
            </a:r>
          </a:p>
        </p:txBody>
      </p:sp>
      <p:sp>
        <p:nvSpPr>
          <p:cNvPr id="7" name="Rectangle 6"/>
          <p:cNvSpPr/>
          <p:nvPr/>
        </p:nvSpPr>
        <p:spPr>
          <a:xfrm>
            <a:off x="365760" y="13716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996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0" name="TextBox 9"/>
          <p:cNvSpPr txBox="1"/>
          <p:nvPr/>
        </p:nvSpPr>
        <p:spPr>
          <a:xfrm>
            <a:off x="1097280" y="1499616"/>
            <a:ext cx="4572000" cy="548640"/>
          </a:xfrm>
          <a:prstGeom prst="rect">
            <a:avLst/>
          </a:prstGeom>
          <a:noFill/>
        </p:spPr>
        <p:txBody>
          <a:bodyPr wrap="square">
            <a:spAutoFit/>
          </a:bodyPr>
          <a:lstStyle/>
          <a:p>
            <a:pPr algn="l"/>
            <a:r>
              <a:rPr sz="1300" b="0">
                <a:solidFill>
                  <a:srgbClr val="FFFFFF"/>
                </a:solidFill>
                <a:latin typeface="Calibri"/>
              </a:rPr>
              <a:t>Diversity in Clinical Trials: importance of diversity in clinical trials</a:t>
            </a:r>
          </a:p>
        </p:txBody>
      </p:sp>
      <p:sp>
        <p:nvSpPr>
          <p:cNvPr id="11" name="Rectangle 10"/>
          <p:cNvSpPr/>
          <p:nvPr/>
        </p:nvSpPr>
        <p:spPr>
          <a:xfrm>
            <a:off x="365760" y="22860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2860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140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4" name="TextBox 13"/>
          <p:cNvSpPr txBox="1"/>
          <p:nvPr/>
        </p:nvSpPr>
        <p:spPr>
          <a:xfrm>
            <a:off x="1097280" y="2414016"/>
            <a:ext cx="4572000" cy="548640"/>
          </a:xfrm>
          <a:prstGeom prst="rect">
            <a:avLst/>
          </a:prstGeom>
          <a:noFill/>
        </p:spPr>
        <p:txBody>
          <a:bodyPr wrap="square">
            <a:spAutoFit/>
          </a:bodyPr>
          <a:lstStyle/>
          <a:p>
            <a:pPr algn="l"/>
            <a:r>
              <a:rPr sz="1300" b="0">
                <a:solidFill>
                  <a:srgbClr val="FFFFFF"/>
                </a:solidFill>
                <a:latin typeface="Calibri"/>
              </a:rPr>
              <a:t>Regulatory Compliance: ensuring regulatory compliance in diverse recruitment</a:t>
            </a:r>
          </a:p>
        </p:txBody>
      </p:sp>
      <p:sp>
        <p:nvSpPr>
          <p:cNvPr id="15" name="Rectangle 14"/>
          <p:cNvSpPr/>
          <p:nvPr/>
        </p:nvSpPr>
        <p:spPr>
          <a:xfrm>
            <a:off x="365760" y="32004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2004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284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8" name="TextBox 17"/>
          <p:cNvSpPr txBox="1"/>
          <p:nvPr/>
        </p:nvSpPr>
        <p:spPr>
          <a:xfrm>
            <a:off x="1097280" y="3328416"/>
            <a:ext cx="4572000" cy="548640"/>
          </a:xfrm>
          <a:prstGeom prst="rect">
            <a:avLst/>
          </a:prstGeom>
          <a:noFill/>
        </p:spPr>
        <p:txBody>
          <a:bodyPr wrap="square">
            <a:spAutoFit/>
          </a:bodyPr>
          <a:lstStyle/>
          <a:p>
            <a:pPr algn="l"/>
            <a:r>
              <a:rPr sz="1300" b="0">
                <a:solidFill>
                  <a:srgbClr val="FFFFFF"/>
                </a:solidFill>
                <a:latin typeface="Calibri"/>
              </a:rPr>
              <a:t>Economic Pressures: managing economic pressures in diverse recruitment</a:t>
            </a:r>
          </a:p>
        </p:txBody>
      </p:sp>
      <p:sp>
        <p:nvSpPr>
          <p:cNvPr id="19" name="Rectangle 18"/>
          <p:cNvSpPr/>
          <p:nvPr/>
        </p:nvSpPr>
        <p:spPr>
          <a:xfrm>
            <a:off x="365760" y="41148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1148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2428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22" name="TextBox 21"/>
          <p:cNvSpPr txBox="1"/>
          <p:nvPr/>
        </p:nvSpPr>
        <p:spPr>
          <a:xfrm>
            <a:off x="1097280" y="4242816"/>
            <a:ext cx="4572000" cy="548640"/>
          </a:xfrm>
          <a:prstGeom prst="rect">
            <a:avLst/>
          </a:prstGeom>
          <a:noFill/>
        </p:spPr>
        <p:txBody>
          <a:bodyPr wrap="square">
            <a:spAutoFit/>
          </a:bodyPr>
          <a:lstStyle/>
          <a:p>
            <a:pPr algn="l"/>
            <a:r>
              <a:rPr sz="1300" b="0">
                <a:solidFill>
                  <a:srgbClr val="FFFFFF"/>
                </a:solidFill>
                <a:latin typeface="Calibri"/>
              </a:rPr>
              <a:t>Enrollment Goals: achieving enrollment goals in diverse recruitment</a:t>
            </a:r>
          </a:p>
        </p:txBody>
      </p:sp>
      <p:sp>
        <p:nvSpPr>
          <p:cNvPr id="23" name="Rectangle 22"/>
          <p:cNvSpPr/>
          <p:nvPr/>
        </p:nvSpPr>
        <p:spPr>
          <a:xfrm>
            <a:off x="365760" y="50292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50292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572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26" name="TextBox 25"/>
          <p:cNvSpPr txBox="1"/>
          <p:nvPr/>
        </p:nvSpPr>
        <p:spPr>
          <a:xfrm>
            <a:off x="1097280" y="5157216"/>
            <a:ext cx="4572000" cy="548640"/>
          </a:xfrm>
          <a:prstGeom prst="rect">
            <a:avLst/>
          </a:prstGeom>
          <a:noFill/>
        </p:spPr>
        <p:txBody>
          <a:bodyPr wrap="square">
            <a:spAutoFit/>
          </a:bodyPr>
          <a:lstStyle/>
          <a:p>
            <a:pPr algn="l"/>
            <a:r>
              <a:rPr sz="1300" b="0">
                <a:solidFill>
                  <a:srgbClr val="FFFFFF"/>
                </a:solidFill>
                <a:latin typeface="Calibri"/>
              </a:rPr>
              <a:t>Sustainability: ensuring sustainability in diverse recruitment</a:t>
            </a:r>
          </a:p>
        </p:txBody>
      </p:sp>
      <p:sp>
        <p:nvSpPr>
          <p:cNvPr id="27" name="TextBox 26"/>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jpg"/>
          <p:cNvPicPr>
            <a:picLocks noChangeAspect="1"/>
          </p:cNvPicPr>
          <p:nvPr/>
        </p:nvPicPr>
        <p:blipFill>
          <a:blip r:embed="rId2"/>
          <a:stretch>
            <a:fillRect/>
          </a:stretch>
        </p:blipFill>
        <p:spPr>
          <a:xfrm>
            <a:off x="0" y="0"/>
            <a:ext cx="12188952" cy="6858000"/>
          </a:xfrm>
          <a:prstGeom prst="rect">
            <a:avLst/>
          </a:prstGeom>
        </p:spPr>
      </p:pic>
      <p:sp>
        <p:nvSpPr>
          <p:cNvPr id="3" name="Rectangle 2"/>
          <p:cNvSpPr/>
          <p:nvPr/>
        </p:nvSpPr>
        <p:spPr>
          <a:solidFill>
            <a:srgbClr val="0A0A0A">
              <a:alpha val="68627"/>
            </a:srgbClr>
          </a:solidFill>
          <a:xfrm>
            <a:off x="0" y="0"/>
            <a:ext cx="12188952" cy="6858000"/>
          </a:xfrm>
          <a:prstGeom prst="rect">
            <a:avLst/>
          </a:prstGeom>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943600" cy="6858000"/>
          </a:xfrm>
          <a:prstGeom prst="rect">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0"/>
            <a:ext cx="91440" cy="685800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274320"/>
            <a:ext cx="5486400" cy="822960"/>
          </a:xfrm>
          <a:prstGeom prst="rect">
            <a:avLst/>
          </a:prstGeom>
          <a:noFill/>
        </p:spPr>
        <p:txBody>
          <a:bodyPr wrap="square">
            <a:spAutoFit/>
          </a:bodyPr>
          <a:lstStyle/>
          <a:p>
            <a:pPr algn="l"/>
            <a:r>
              <a:rPr sz="2800" b="1">
                <a:solidFill>
                  <a:srgbClr val="FFFFFF"/>
                </a:solidFill>
                <a:latin typeface="Calibri"/>
              </a:rPr>
              <a:t>Future Outlook</a:t>
            </a:r>
          </a:p>
        </p:txBody>
      </p:sp>
      <p:sp>
        <p:nvSpPr>
          <p:cNvPr id="7" name="Rectangle 6"/>
          <p:cNvSpPr/>
          <p:nvPr/>
        </p:nvSpPr>
        <p:spPr>
          <a:xfrm>
            <a:off x="365760" y="13716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60" y="13716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4996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0" name="TextBox 9"/>
          <p:cNvSpPr txBox="1"/>
          <p:nvPr/>
        </p:nvSpPr>
        <p:spPr>
          <a:xfrm>
            <a:off x="1097280" y="1499616"/>
            <a:ext cx="4572000" cy="548640"/>
          </a:xfrm>
          <a:prstGeom prst="rect">
            <a:avLst/>
          </a:prstGeom>
          <a:noFill/>
        </p:spPr>
        <p:txBody>
          <a:bodyPr wrap="square">
            <a:spAutoFit/>
          </a:bodyPr>
          <a:lstStyle/>
          <a:p>
            <a:pPr algn="l"/>
            <a:r>
              <a:rPr sz="1300" b="0">
                <a:solidFill>
                  <a:srgbClr val="FFFFFF"/>
                </a:solidFill>
                <a:latin typeface="Calibri"/>
              </a:rPr>
              <a:t>Increased Diversity: increased diversity in clinical trials</a:t>
            </a:r>
          </a:p>
        </p:txBody>
      </p:sp>
      <p:sp>
        <p:nvSpPr>
          <p:cNvPr id="11" name="Rectangle 10"/>
          <p:cNvSpPr/>
          <p:nvPr/>
        </p:nvSpPr>
        <p:spPr>
          <a:xfrm>
            <a:off x="365760" y="22860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22860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24140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4" name="TextBox 13"/>
          <p:cNvSpPr txBox="1"/>
          <p:nvPr/>
        </p:nvSpPr>
        <p:spPr>
          <a:xfrm>
            <a:off x="1097280" y="2414016"/>
            <a:ext cx="4572000" cy="548640"/>
          </a:xfrm>
          <a:prstGeom prst="rect">
            <a:avLst/>
          </a:prstGeom>
          <a:noFill/>
        </p:spPr>
        <p:txBody>
          <a:bodyPr wrap="square">
            <a:spAutoFit/>
          </a:bodyPr>
          <a:lstStyle/>
          <a:p>
            <a:pPr algn="l"/>
            <a:r>
              <a:rPr sz="1300" b="0">
                <a:solidFill>
                  <a:srgbClr val="FFFFFF"/>
                </a:solidFill>
                <a:latin typeface="Calibri"/>
              </a:rPr>
              <a:t>Improved Enrollment: improved enrollment rates for diverse populations</a:t>
            </a:r>
          </a:p>
        </p:txBody>
      </p:sp>
      <p:sp>
        <p:nvSpPr>
          <p:cNvPr id="15" name="Rectangle 14"/>
          <p:cNvSpPr/>
          <p:nvPr/>
        </p:nvSpPr>
        <p:spPr>
          <a:xfrm>
            <a:off x="365760" y="32004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32004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33284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18" name="TextBox 17"/>
          <p:cNvSpPr txBox="1"/>
          <p:nvPr/>
        </p:nvSpPr>
        <p:spPr>
          <a:xfrm>
            <a:off x="1097280" y="3328416"/>
            <a:ext cx="4572000" cy="548640"/>
          </a:xfrm>
          <a:prstGeom prst="rect">
            <a:avLst/>
          </a:prstGeom>
          <a:noFill/>
        </p:spPr>
        <p:txBody>
          <a:bodyPr wrap="square">
            <a:spAutoFit/>
          </a:bodyPr>
          <a:lstStyle/>
          <a:p>
            <a:pPr algn="l"/>
            <a:r>
              <a:rPr sz="1300" b="0">
                <a:solidFill>
                  <a:srgbClr val="FFFFFF"/>
                </a:solidFill>
                <a:latin typeface="Calibri"/>
              </a:rPr>
              <a:t>Reduced Costs: reduced costs for sponsors through diverse recruitment</a:t>
            </a:r>
          </a:p>
        </p:txBody>
      </p:sp>
      <p:sp>
        <p:nvSpPr>
          <p:cNvPr id="19" name="Rectangle 18"/>
          <p:cNvSpPr/>
          <p:nvPr/>
        </p:nvSpPr>
        <p:spPr>
          <a:xfrm>
            <a:off x="365760" y="4114800"/>
            <a:ext cx="5394960" cy="777240"/>
          </a:xfrm>
          <a:prstGeom prst="rect">
            <a:avLst/>
          </a:prstGeom>
          <a:solidFill>
            <a:srgbClr val="3C3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114800"/>
            <a:ext cx="73152" cy="777240"/>
          </a:xfrm>
          <a:prstGeom prst="rect">
            <a:avLst/>
          </a:prstGeom>
          <a:solidFill>
            <a:srgbClr val="4A7C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242816"/>
            <a:ext cx="457200" cy="457200"/>
          </a:xfrm>
          <a:prstGeom prst="rect">
            <a:avLst/>
          </a:prstGeom>
          <a:noFill/>
        </p:spPr>
        <p:txBody>
          <a:bodyPr wrap="square">
            <a:spAutoFit/>
          </a:bodyPr>
          <a:lstStyle/>
          <a:p>
            <a:pPr algn="l"/>
            <a:r>
              <a:rPr sz="1500" b="1">
                <a:solidFill>
                  <a:srgbClr val="4A7C59"/>
                </a:solidFill>
                <a:latin typeface="Calibri"/>
              </a:rPr>
              <a:t>→</a:t>
            </a:r>
          </a:p>
        </p:txBody>
      </p:sp>
      <p:sp>
        <p:nvSpPr>
          <p:cNvPr id="22" name="TextBox 21"/>
          <p:cNvSpPr txBox="1"/>
          <p:nvPr/>
        </p:nvSpPr>
        <p:spPr>
          <a:xfrm>
            <a:off x="1097280" y="4242816"/>
            <a:ext cx="4572000" cy="548640"/>
          </a:xfrm>
          <a:prstGeom prst="rect">
            <a:avLst/>
          </a:prstGeom>
          <a:noFill/>
        </p:spPr>
        <p:txBody>
          <a:bodyPr wrap="square">
            <a:spAutoFit/>
          </a:bodyPr>
          <a:lstStyle/>
          <a:p>
            <a:pPr algn="l"/>
            <a:r>
              <a:rPr sz="1300" b="0">
                <a:solidFill>
                  <a:srgbClr val="FFFFFF"/>
                </a:solidFill>
                <a:latin typeface="Calibri"/>
              </a:rPr>
              <a:t>Enhanced Patient Engagement: enhanced patient engagement and retention strategies</a:t>
            </a:r>
          </a:p>
        </p:txBody>
      </p:sp>
      <p:sp>
        <p:nvSpPr>
          <p:cNvPr id="23" name="TextBox 22"/>
          <p:cNvSpPr txBox="1"/>
          <p:nvPr/>
        </p:nvSpPr>
        <p:spPr>
          <a:xfrm>
            <a:off x="11594592" y="6473952"/>
            <a:ext cx="457200" cy="320040"/>
          </a:xfrm>
          <a:prstGeom prst="rect">
            <a:avLst/>
          </a:prstGeom>
          <a:noFill/>
        </p:spPr>
        <p:txBody>
          <a:bodyPr wrap="square">
            <a:spAutoFit/>
          </a:bodyPr>
          <a:lstStyle/>
          <a:p>
            <a:pPr algn="r"/>
            <a:r>
              <a:rPr sz="900" b="0">
                <a:solidFill>
                  <a:srgbClr val="7A9A84"/>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