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4A7C59"/>
                </a:solidFill>
                <a:latin typeface="Calibri"/>
              </a:rPr>
              <a:t>Smart Pet Collar Business Evaluation for the European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A84"/>
                </a:solidFill>
                <a:latin typeface="Calibri"/>
              </a:rPr>
              <a:t>AI-Generated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2163470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7183" y="1261872"/>
            <a:ext cx="512064" cy="512064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Market 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European pet wearable market valued at €751.3 million in 2023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06624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06624" y="1097280"/>
            <a:ext cx="2163470" cy="914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2327" y="1261872"/>
            <a:ext cx="512064" cy="512064"/>
          </a:xfrm>
          <a:prstGeom prst="ellipse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Growth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80944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Projected to grow at a CAGR of 14.6% through 2030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38344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01768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01768" y="1097280"/>
            <a:ext cx="2163470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27471" y="1261872"/>
            <a:ext cx="512064" cy="512064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8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Product concept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76088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11496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Combines hardware and software subscription 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33488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96912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1097280"/>
            <a:ext cx="2163470" cy="914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22615" y="1261872"/>
            <a:ext cx="512064" cy="512064"/>
          </a:xfrm>
          <a:prstGeom prst="ellipse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8352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Target market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71232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Premium segment of European pet owners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28632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92056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1097280"/>
            <a:ext cx="2163470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7759" y="1261872"/>
            <a:ext cx="512064" cy="512064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83496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Key benefit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66376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01784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Provides GPS tracking, camera feed, and health monitoring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1E3A2F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Product Concept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Product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GPS tracking, camera feed, and health monitoring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Target species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Cats and dogs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Key benefit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Provides peace of mind for pet owners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Technical requirements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Integration of GPS, camera, and health sensors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Market demand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High demand for premium pet care products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European Market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681478" cy="5029200"/>
          </a:xfrm>
          <a:prstGeom prst="rect">
            <a:avLst/>
          </a:prstGeom>
          <a:solidFill>
            <a:srgbClr val="F0F4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MARKET SIZE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€751.3 million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566160"/>
            <a:ext cx="1702498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European pet wearable market in 2023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21558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75838" y="1097280"/>
            <a:ext cx="268147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75838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7278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GROWTH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50158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48990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14.6%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04438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04438" y="3566160"/>
            <a:ext cx="1475498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67278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Projected CAGR through 2030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0196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4476" y="1097280"/>
            <a:ext cx="2681478" cy="5029200"/>
          </a:xfrm>
          <a:prstGeom prst="rect">
            <a:avLst/>
          </a:prstGeom>
          <a:solidFill>
            <a:srgbClr val="F0F4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4476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85916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PET OWNERSHIP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68796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7628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35%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23076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23076" y="3566160"/>
            <a:ext cx="1248498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85916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Of European households own a pet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58834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13114" y="1097280"/>
            <a:ext cx="268147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13114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4554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PREMIUM SEGMENT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87434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86266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25%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1714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1714" y="3566160"/>
            <a:ext cx="1021499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4554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Of pet owners willing to pay for premium products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European Competitive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454396" cy="5029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52715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ESTABLISHED PLAYERS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454396" cy="80467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64008" cy="80467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Established players: Well-known brands with existing market share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5454396" cy="80467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64008" cy="80467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7432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New entrants: Startups and new companies entering the market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5454396" cy="80467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64008" cy="80467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6576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Key differentiators: Unique features and benefits of each product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7356" y="1143000"/>
            <a:ext cx="5454396" cy="50292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8796" y="1216152"/>
            <a:ext cx="52715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NEW ENTRANTS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7356" y="1737360"/>
            <a:ext cx="5454396" cy="80467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7356" y="1737360"/>
            <a:ext cx="64008" cy="80467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1948" y="18288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Pricing strategy: Premium pricing for high-end products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7356" y="2651760"/>
            <a:ext cx="5454396" cy="80467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7356" y="2651760"/>
            <a:ext cx="64008" cy="80467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1948" y="27432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Market share: 20%: Of the market held by the top three players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7356" y="3566160"/>
            <a:ext cx="5454396" cy="80467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7356" y="3566160"/>
            <a:ext cx="64008" cy="80467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1948" y="36576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Growth opportunities: 15%: Of the market available for new entrants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48756" y="1143000"/>
            <a:ext cx="54864" cy="54406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European Pet Wearable Market Size and Projections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864358" cy="59436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YEAR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30118" y="1143000"/>
            <a:ext cx="2864358" cy="5943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1558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MARKET SIZE (€ MILLION)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4476" y="1143000"/>
            <a:ext cx="2864358" cy="5943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85916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ANNUAL GROWTH RATE 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58834" y="1143000"/>
            <a:ext cx="2864358" cy="5943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0274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TECHNOLOGY SEGMENT LEADER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37360"/>
            <a:ext cx="2864358" cy="611505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737360"/>
            <a:ext cx="45720" cy="611505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810512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2023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0118" y="1737360"/>
            <a:ext cx="2864358" cy="611505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9846" y="1810512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751.3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4476" y="1737360"/>
            <a:ext cx="2864358" cy="611505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4204" y="1810512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-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58834" y="1737360"/>
            <a:ext cx="2864358" cy="611505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8562" y="1810512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RFID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348865"/>
            <a:ext cx="2864358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348865"/>
            <a:ext cx="45720" cy="611505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2422017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2024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30118" y="2348865"/>
            <a:ext cx="2864358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9846" y="2422017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860.9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4476" y="2348865"/>
            <a:ext cx="2864358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4204" y="2422017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14.6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58834" y="2348865"/>
            <a:ext cx="2864358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68562" y="2422017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RFID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960370"/>
            <a:ext cx="2864358" cy="611505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2960370"/>
            <a:ext cx="45720" cy="611505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3033522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2025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30118" y="2960370"/>
            <a:ext cx="2864358" cy="611505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9846" y="3033522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986.6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4476" y="2960370"/>
            <a:ext cx="2864358" cy="611505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04204" y="3033522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14.6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58834" y="2960370"/>
            <a:ext cx="2864358" cy="611505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68562" y="3033522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GPS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571875"/>
            <a:ext cx="2864358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3571875"/>
            <a:ext cx="45720" cy="611505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" y="3645027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2026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30118" y="3571875"/>
            <a:ext cx="2864358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39846" y="3645027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1,130.6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94476" y="3571875"/>
            <a:ext cx="2864358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04204" y="3645027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14.6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58834" y="3571875"/>
            <a:ext cx="2864358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68562" y="3645027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GPS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183380"/>
            <a:ext cx="2864358" cy="611505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" y="4183380"/>
            <a:ext cx="45720" cy="611505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" y="4256532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2027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30118" y="4183380"/>
            <a:ext cx="2864358" cy="611505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39846" y="4256532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1,295.7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94476" y="4183380"/>
            <a:ext cx="2864358" cy="611505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04204" y="4256532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14.6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58834" y="4183380"/>
            <a:ext cx="2864358" cy="611505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68562" y="4256532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GPS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4794885"/>
            <a:ext cx="2864358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65760" y="4794885"/>
            <a:ext cx="45720" cy="611505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5488" y="4868037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2028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30118" y="4794885"/>
            <a:ext cx="2864358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39846" y="4868037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1,484.9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94476" y="4794885"/>
            <a:ext cx="2864358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04204" y="4868037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14.6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58834" y="4794885"/>
            <a:ext cx="2864358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68562" y="4868037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GPS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5406390"/>
            <a:ext cx="2864358" cy="611505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65760" y="5406390"/>
            <a:ext cx="45720" cy="611505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75488" y="5479542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2029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30118" y="5406390"/>
            <a:ext cx="2864358" cy="611505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339846" y="5479542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1,701.7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94476" y="5406390"/>
            <a:ext cx="2864358" cy="611505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04204" y="5479542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14.6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58834" y="5406390"/>
            <a:ext cx="2864358" cy="611505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68562" y="5479542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GPS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6017895"/>
            <a:ext cx="2864358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65760" y="6017895"/>
            <a:ext cx="45720" cy="611505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75488" y="6091047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2030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30118" y="6017895"/>
            <a:ext cx="2864358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339846" y="6091047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1,950.8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094476" y="6017895"/>
            <a:ext cx="2864358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04204" y="6091047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14.6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958834" y="6017895"/>
            <a:ext cx="2864358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068562" y="6091047"/>
            <a:ext cx="2699766" cy="50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GPS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European Pet Wearable Market Size and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520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A84"/>
                </a:solidFill>
                <a:latin typeface="Calibri"/>
              </a:rPr>
              <a:t>Data visualization
from document analysis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5029200"/>
            <a:ext cx="731520" cy="731520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91440"/>
            <a:ext cx="9171432" cy="6675120"/>
          </a:xfrm>
          <a:prstGeom prst="rect">
            <a:avLst/>
          </a:prstGeom>
          <a:solidFill>
            <a:srgbClr val="F0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82880"/>
            <a:ext cx="8988552" cy="6492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1E3A2F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Technical Feasibility and Financial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Technical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Integration of GPS, camera, and health sensors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Development costs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€500,000: Estimated initial development costs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Production costs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€50: Estimated per unit production costs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Revenue projections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€10 million: Projected revenue in the first year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Growth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20%: Projected annual growth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Go-to-Market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236622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4A7C59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Market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Identify target audience and market trends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48102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48102" y="1188720"/>
            <a:ext cx="2236622" cy="7315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3822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E3A2F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76702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3822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Product launch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2110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Launch product in key European markets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6164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76164" y="1188720"/>
            <a:ext cx="2236622" cy="73152"/>
          </a:xfrm>
          <a:prstGeom prst="rect">
            <a:avLst/>
          </a:prstGeom>
          <a:solidFill>
            <a:srgbClr val="4A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1884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4A6A4A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04764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1884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Marketing campaign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0172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Execute marketing campaign to raise awareness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04227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04227" y="1188720"/>
            <a:ext cx="2236622" cy="73152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49947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3A3A5A"/>
                </a:solidFill>
                <a:latin typeface="Calibri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2827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49947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Sales strategy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8235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Establish sales channels and partnerships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32289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32289" y="1188720"/>
            <a:ext cx="2236622" cy="73152"/>
          </a:xfrm>
          <a:prstGeom prst="rect">
            <a:avLst/>
          </a:prstGeom>
          <a:solidFill>
            <a:srgbClr val="5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78009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5A3A3A"/>
                </a:solidFill>
                <a:latin typeface="Calibri"/>
              </a:rPr>
              <a:t>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60889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78009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Customer 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6297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Provide excellent customer support and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0"/>
            <a:ext cx="12079224" cy="109728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E3A2F"/>
                </a:solidFill>
                <a:latin typeface="Calibri"/>
              </a:rPr>
              <a:t>Key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7A9A84"/>
                </a:solidFill>
                <a:latin typeface="Calibri"/>
              </a:rPr>
              <a:t>The European pet wearable market presents a significant opportunity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97880"/>
            <a:ext cx="3666744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97880"/>
            <a:ext cx="54864" cy="7315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0760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Growing demand: For premium pet care products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1104" y="5897880"/>
            <a:ext cx="3666744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1104" y="5897880"/>
            <a:ext cx="54864" cy="7315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8264" y="600760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Increasing adoption: Of pet wearables and related technology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9288" y="5897880"/>
            <a:ext cx="3666744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9288" y="5897880"/>
            <a:ext cx="54864" cy="7315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600760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Competitive advantage: For companies that can provide unique features and benefits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1E3A2F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SWOT Analysis and Risk Assessment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Unique features and benefits of the product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Weaknesses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High development and production costs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Opportunities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Growing demand for premium pet care products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Threats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Competition from established players and new entrants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Risk mitigation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Strategies to mitigate risks and ensure success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Conclusions and Recommendations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996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4996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The European pet wearable market presents a significant opportunity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4140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140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Unique features and benefits: Provide a competitive advantage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3284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284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Growing demand: For premium pet care products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1148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428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Strategic partnerships: Can help drive growth and adoption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292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572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572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Key recommendation: Invest in the development and launch of the product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