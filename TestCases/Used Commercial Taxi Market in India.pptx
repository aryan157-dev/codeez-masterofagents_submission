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6459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4A7C59"/>
                </a:solidFill>
                <a:latin typeface="Calibri"/>
              </a:rPr>
              <a:t>Used Commercial Taxi Market in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931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E3A2F"/>
                </a:solidFill>
                <a:latin typeface="Calibri"/>
              </a:rPr>
              <a:t>A comprehensive examination of the market landscape for used commercial taxis in India, with a focus on Maruti models. The report provides insights into market dynamics, geographical variations, regulatory impacts, and future projections to aid strategic decision-making for new market entrants.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84"/>
                </a:solidFill>
                <a:latin typeface="Calibri"/>
              </a:rPr>
              <a:t>AI-Generated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7183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Market size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India's used commercial taxi market reached INR 4 trillion in FY2025, with 8-10% projected growth into FY2026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6624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06624" y="1097280"/>
            <a:ext cx="2163470" cy="914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2327" y="1261872"/>
            <a:ext cx="512064" cy="512064"/>
          </a:xfrm>
          <a:prstGeom prst="ellipse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98064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Dominant player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0944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Maruti Suzuki dominates the market due to serviceability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38344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01768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1768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27471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Growth drivers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76088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11496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NCR regulations accelerating fleet turnover and vehicle migration to Tier 2/3 cities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33488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1097280"/>
            <a:ext cx="2163470" cy="914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122615" y="1261872"/>
            <a:ext cx="512064" cy="512064"/>
          </a:xfrm>
          <a:prstGeom prst="ellipse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Key strategies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1232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06640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Dual-channel sourcing, prioritizing compliant CNG models, robust documentation for financing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28632" y="1133856"/>
            <a:ext cx="216347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92056" y="1097280"/>
            <a:ext cx="216347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92056" y="1097280"/>
            <a:ext cx="2163470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17759" y="1261872"/>
            <a:ext cx="512064" cy="512064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83496" y="1920240"/>
            <a:ext cx="199887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E3A2F"/>
                </a:solidFill>
                <a:latin typeface="Calibri"/>
              </a:rPr>
              <a:t>Market outlook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66376" y="2633472"/>
            <a:ext cx="1614830" cy="36576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01784" y="2761488"/>
            <a:ext cx="198059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A9A84"/>
                </a:solidFill>
                <a:latin typeface="Calibri"/>
              </a:rPr>
              <a:t>8-10% growth in FY2026, driven by increasing demand for used commercial taxis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Market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Market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India's used commercial taxi market reached INR 4 trillion in FY2025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Growth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8-10% projected growth in FY2026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Dominant player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Maruti Suzuki dominates the market due to serviceability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Key models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Maruti Omni, Maruti Eeco, and Maruti Dzire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Growth drivers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NCR regulations accelerating fleet turnover and vehicle migration to Tier 2/3 cities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Market Indicators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681478" cy="5029200"/>
          </a:xfrm>
          <a:prstGeom prst="rect">
            <a:avLst/>
          </a:prstGeom>
          <a:solidFill>
            <a:srgbClr val="F0F4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TOTAL MARKET SIZE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INR 4 trillion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3566160"/>
            <a:ext cx="1702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FY2025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1558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75838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75838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67278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GROWTH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50158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48990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8-10%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4438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04438" y="3566160"/>
            <a:ext cx="1475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7278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FY2026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0196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4476" y="1097280"/>
            <a:ext cx="2681478" cy="5029200"/>
          </a:xfrm>
          <a:prstGeom prst="rect">
            <a:avLst/>
          </a:prstGeom>
          <a:solidFill>
            <a:srgbClr val="F0F4F1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4476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5916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DOMINANT PLAYER MARKET SHARE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68796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67628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50%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3076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23076" y="3566160"/>
            <a:ext cx="1248498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5916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Maruti Suzuki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58834" y="1143000"/>
            <a:ext cx="2681478" cy="5029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13114" y="1097280"/>
            <a:ext cx="268147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13114" y="1097280"/>
            <a:ext cx="2681478" cy="109728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4554" y="1298448"/>
            <a:ext cx="254431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A9A84"/>
                </a:solidFill>
                <a:latin typeface="Calibri"/>
              </a:rPr>
              <a:t>AVERAGE VEHICLE AGE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7434" y="1828800"/>
            <a:ext cx="2132838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6266" y="1874520"/>
            <a:ext cx="263575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4A7C59"/>
                </a:solidFill>
                <a:latin typeface="Calibri"/>
              </a:rPr>
              <a:t>5 years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1714" y="3566160"/>
            <a:ext cx="2269998" cy="9144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41714" y="3566160"/>
            <a:ext cx="1021499" cy="914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4554" y="3794760"/>
            <a:ext cx="254431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3A2F"/>
                </a:solidFill>
                <a:latin typeface="Calibri"/>
              </a:rPr>
              <a:t>used commercial taxis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India used passenger vehicle market indicators FY2025 to FY2026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864358" cy="59436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0118" y="1143000"/>
            <a:ext cx="2864358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21558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PERIOD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4476" y="1143000"/>
            <a:ext cx="2864358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85916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58834" y="1143000"/>
            <a:ext cx="2864358" cy="5943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0274" y="1234440"/>
            <a:ext cx="272719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73736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Used car transactions (Units)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30118" y="173736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9846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FY2025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94476" y="173736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4204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5,900,000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8834" y="173736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8562" y="181051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Indian Blue Book coverage via IBEF and Moneycontrol 3.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51460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Used car market value (INR)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30118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9846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FY2026 outlook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4476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4204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4,000,000,000,000.00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58834" y="251460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8562" y="258775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Crisil estimate reported by Business Standard 4.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29184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329184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Used car volume growth (Percent)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30118" y="329184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39846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FY2026 outlook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4476" y="329184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04204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8.0% to 10.0%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58834" y="3291840"/>
            <a:ext cx="2864358" cy="777240"/>
          </a:xfrm>
          <a:prstGeom prst="rect">
            <a:avLst/>
          </a:prstGeom>
          <a:solidFill>
            <a:srgbClr val="F0F4F1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68562" y="336499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Crisil projection reported by Business Standard and ETAuto 1.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4069080"/>
            <a:ext cx="45720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488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3A2F"/>
                </a:solidFill>
                <a:latin typeface="Calibri"/>
              </a:rPr>
              <a:t>Taxi registrations (Units)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30118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39846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CY2025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4476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04204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7C59"/>
                </a:solidFill>
                <a:latin typeface="Calibri"/>
              </a:rPr>
              <a:t>312,665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58834" y="4069080"/>
            <a:ext cx="286435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68562" y="4142232"/>
            <a:ext cx="2699766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Vahan portal data cited by Mint 2.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937760"/>
            <a:ext cx="11457432" cy="41148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4937760"/>
            <a:ext cx="73152" cy="41148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" y="5010912"/>
            <a:ext cx="11091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A9A84"/>
                </a:solidFill>
                <a:latin typeface="Calibri"/>
              </a:rPr>
              <a:t>4 records  ·  4 metrics  ·  Source: Document Analysis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91440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Used Passenger Vehicle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352044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A9A84"/>
                </a:solidFill>
                <a:latin typeface="Calibri"/>
              </a:rPr>
              <a:t>Data visualization
from document analysis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5029200"/>
            <a:ext cx="731520" cy="73152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91440"/>
            <a:ext cx="9171432" cy="6675120"/>
          </a:xfrm>
          <a:prstGeom prst="rect">
            <a:avLst/>
          </a:prstGeom>
          <a:solidFill>
            <a:srgbClr val="F0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hart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82880"/>
            <a:ext cx="8988552" cy="6492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Key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818638" cy="73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7C59"/>
                </a:solidFill>
                <a:latin typeface="Calibri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Dual-channel sourcing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Sourcing vehicles from both organized and unorganized sectors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0118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0118" y="1188720"/>
            <a:ext cx="2818638" cy="73152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5838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E3A2F"/>
                </a:solidFill>
                <a:latin typeface="Calibri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8718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5838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Prioritizing compliant CNG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4126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Focusing on CNG models to comply with regulations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0196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0196" y="1188720"/>
            <a:ext cx="2818638" cy="73152"/>
          </a:xfrm>
          <a:prstGeom prst="rect">
            <a:avLst/>
          </a:prstGeom>
          <a:solidFill>
            <a:srgbClr val="4A6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5916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4A6A4A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68796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5916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Robust documentation for financing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04204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Ensuring proper documentation for financing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0274" y="1188720"/>
            <a:ext cx="2818638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50274" y="1188720"/>
            <a:ext cx="2818638" cy="73152"/>
          </a:xfrm>
          <a:prstGeom prst="rect">
            <a:avLst/>
          </a:prstGeom>
          <a:solidFill>
            <a:srgbClr val="3A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5994" y="1353312"/>
            <a:ext cx="272719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3A3A5A"/>
                </a:solidFill>
                <a:latin typeface="Calibri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78874" y="2240280"/>
            <a:ext cx="2269998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95994" y="2359152"/>
            <a:ext cx="272719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2F"/>
                </a:solidFill>
                <a:latin typeface="Calibri"/>
              </a:rPr>
              <a:t>Model-specific pricing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14282" y="3063239"/>
            <a:ext cx="269062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A9A84"/>
                </a:solidFill>
                <a:latin typeface="Calibri"/>
              </a:rPr>
              <a:t>Pricing vehicles based on their specific models and conditions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Regulatory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NCR regulations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Accelerating fleet turnover and vehicle migration to Tier 2/3 cities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CAQM end of life fuel denial rollout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Phasing out old vehicles to reduce pollution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Vehicle age limits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Limiting the age of vehicles to ensure safety and reduce pollution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Compliance 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Ensuring vehicles comply with regulations to avoid penalties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Penalties for non-compliance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Imposing penalties on vehicles that do not comply with regulations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10058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Market Dynamics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864358" cy="5486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Supply and demand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" y="1737360"/>
            <a:ext cx="2718054" cy="640080"/>
          </a:xfrm>
          <a:prstGeom prst="rect">
            <a:avLst/>
          </a:prstGeom>
          <a:solidFill>
            <a:srgbClr val="F0F4F1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2F"/>
                </a:solidFill>
                <a:latin typeface="Calibri"/>
              </a:rPr>
              <a:t>Balance between the supply of and demand for used commercial taxis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4126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4126" y="1097280"/>
            <a:ext cx="2864358" cy="54864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7278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Pricing trends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7278" y="1737360"/>
            <a:ext cx="2718054" cy="640080"/>
          </a:xfrm>
          <a:prstGeom prst="rect">
            <a:avLst/>
          </a:prstGeom>
          <a:solidFill>
            <a:srgbClr val="F0F4F1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2142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2F"/>
                </a:solidFill>
                <a:latin typeface="Calibri"/>
              </a:rPr>
              <a:t>Trends in pricing of used commercial taxis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2492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2492" y="1097280"/>
            <a:ext cx="2864358" cy="54864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5644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Vehicle availability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5644" y="1737360"/>
            <a:ext cx="2718054" cy="640080"/>
          </a:xfrm>
          <a:prstGeom prst="rect">
            <a:avLst/>
          </a:prstGeom>
          <a:solidFill>
            <a:srgbClr val="F0F4F1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508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2F"/>
                </a:solidFill>
                <a:latin typeface="Calibri"/>
              </a:rPr>
              <a:t>Availability of vehicles in the market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0858" y="1097280"/>
            <a:ext cx="2864358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0858" y="1097280"/>
            <a:ext cx="2864358" cy="54864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24010" y="1170432"/>
            <a:ext cx="271805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Financing options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24010" y="1737360"/>
            <a:ext cx="2718054" cy="640080"/>
          </a:xfrm>
          <a:prstGeom prst="rect">
            <a:avLst/>
          </a:prstGeom>
          <a:solidFill>
            <a:srgbClr val="F0F4F1"/>
          </a:solidFill>
          <a:ln w="6350"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8874" y="1810512"/>
            <a:ext cx="260832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3A2F"/>
                </a:solidFill>
                <a:latin typeface="Calibri"/>
              </a:rPr>
              <a:t>Options available for financing used commercial taxis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" y="0"/>
            <a:ext cx="12079224" cy="109728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E3A2F"/>
                </a:solidFill>
                <a:latin typeface="Calibri"/>
              </a:rPr>
              <a:t>Future Market Projections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7A9A84"/>
                </a:solidFill>
                <a:latin typeface="Calibri"/>
              </a:rPr>
              <a:t>India's used commercial taxi market is projected to grow at 8-10% in FY2026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897880"/>
            <a:ext cx="54864" cy="731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INR 4 trillion: Market size in FY2025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1104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61104" y="5897880"/>
            <a:ext cx="54864" cy="731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98264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5.9 million: Number of units in FY2025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9288" y="5897880"/>
            <a:ext cx="3666744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9288" y="5897880"/>
            <a:ext cx="54864" cy="731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6007608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Maruti Suzuki: Dominant player in the 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E3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0"/>
            <a:ext cx="3749039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solidFill>
            <a:srgbClr val="1E3A2F">
              <a:alpha val="62745"/>
            </a:srgbClr>
          </a:solidFill>
          <a:xfrm>
            <a:off x="91440" y="0"/>
            <a:ext cx="3749039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37160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0" y="137160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06240" y="513892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10312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Key 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21208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Summary of the key findings and insights from the report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475841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1475841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06240" y="1852574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548993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Market outlook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859889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8-10% growth in FY2026, driven by increasing demand for used commercial taxis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2814523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0" y="2814523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206240" y="3191256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87675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Strategic recommendations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198571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Dual-channel sourcing, prioritizing compliant CNG models, robust documentation for financing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0" y="4153204"/>
            <a:ext cx="7845552" cy="1228953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0" y="4153204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4529937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226356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Future projections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37252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India's used commercial taxi market is projected to grow at 8-10% in FY2026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5491886"/>
            <a:ext cx="7845552" cy="1228953"/>
          </a:xfrm>
          <a:prstGeom prst="rect">
            <a:avLst/>
          </a:prstGeom>
          <a:solidFill>
            <a:srgbClr val="F0F4F1"/>
          </a:solidFill>
          <a:ln w="635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0" y="5491886"/>
            <a:ext cx="64008" cy="1228953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206240" y="5868619"/>
            <a:ext cx="475488" cy="475488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565038"/>
            <a:ext cx="7068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7C59"/>
                </a:solidFill>
                <a:latin typeface="Calibri"/>
              </a:rPr>
              <a:t>Growth opportunities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875934"/>
            <a:ext cx="7068312" cy="771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3A2F"/>
                </a:solidFill>
                <a:latin typeface="Calibri"/>
              </a:rPr>
              <a:t>Opportunities for growth and development in the used commercial taxi market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996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India's used commercial taxi market reached INR 4 trillion in FY2025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8-10% growth projected in FY2026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284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Maruti Suzuki dominates the market due to serviceability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428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NCR regulations accelerating fleet turnover and vehicle migration to Tier 2/3 cities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572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572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Dual-channel sourcing, prioritizing compliant CNG models, and robust documentation for financing are key strategies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solidFill>
            <a:srgbClr val="0A0A0A">
              <a:alpha val="68627"/>
            </a:srgbClr>
          </a:solidFill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43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Final Thoughts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4996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996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India's used commercial taxi market is a growing and dynamic market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414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Key players must adapt to changing regulations and market trends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004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284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Opportunities for growth and development exist in the market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1148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428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Strategic planning and execution are essential for success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029200"/>
            <a:ext cx="5394960" cy="77724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029200"/>
            <a:ext cx="73152" cy="77724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1572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7C59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57216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Continuous monitoring of market trends and regulatory changes is necessary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94592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A9A84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