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Verma" userId="c79256ba20ca5ba9" providerId="LiveId" clId="{81E84CD0-0D6E-450A-A1BC-23C521DE33D9}"/>
    <pc:docChg chg="undo custSel modSld">
      <pc:chgData name="Aryan Verma" userId="c79256ba20ca5ba9" providerId="LiveId" clId="{81E84CD0-0D6E-450A-A1BC-23C521DE33D9}" dt="2026-04-16T10:29:16.280" v="4" actId="14100"/>
      <pc:docMkLst>
        <pc:docMk/>
      </pc:docMkLst>
      <pc:sldChg chg="modSp mod">
        <pc:chgData name="Aryan Verma" userId="c79256ba20ca5ba9" providerId="LiveId" clId="{81E84CD0-0D6E-450A-A1BC-23C521DE33D9}" dt="2026-04-16T10:29:16.280" v="4" actId="14100"/>
        <pc:sldMkLst>
          <pc:docMk/>
          <pc:sldMk cId="0" sldId="264"/>
        </pc:sldMkLst>
        <pc:spChg chg="mod">
          <ac:chgData name="Aryan Verma" userId="c79256ba20ca5ba9" providerId="LiveId" clId="{81E84CD0-0D6E-450A-A1BC-23C521DE33D9}" dt="2026-04-16T10:29:16.280" v="4" actId="1410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ryan Verma" userId="c79256ba20ca5ba9" providerId="LiveId" clId="{81E84CD0-0D6E-450A-A1BC-23C521DE33D9}" dt="2026-04-16T10:29:15.621" v="3" actId="1076"/>
          <ac:spMkLst>
            <pc:docMk/>
            <pc:sldMk cId="0" sldId="264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Semiconductor Manufacturing Reshoring - Workforce Readiness in East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2F"/>
                </a:solidFill>
                <a:latin typeface="Calibri"/>
              </a:rPr>
              <a:t>Comprehensive analysis on semiconductor manufacturing reshoring impacts on East Asian workforce readiness targeting industry executives.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Global Transformation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33% increase in semiconductor workforce demand by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Geopolitical Tensions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U.S. CHIPS Act and EU Chips Act driving domestic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Technological Sovereignty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Leading foundries expanding internationally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Supply Chain Resilience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Southeast Asia and Eastern Europe emerging as key hubs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Workforce Challenge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Significant gaps in technical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TOTAL INVESTMENT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$52 billion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U.S. CHIPS Act funding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GLOBAL MARKET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$471 billion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projected semiconductor market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WORKFORCE DEMAND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33%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increase in semiconductor workforce demand by 2030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AVERAGE MONTHLY WAGE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$9.6 billion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average monthly wage in key East Asian economies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East Asian Semiconductor Manufacturing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Taiwan's Semiconductor Industry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$470 billion market size, with TSMC as a leading player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South Korea's Semiconductor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$33.0% market share, with Samsung as a major player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Japan's Semiconductor Industry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$9.6 billion investment in semiconductor manufacturing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China's Semiconductor Industry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significant growth and investment in domestic production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Southeast Asia's Emerging 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emerging as a key regional hub for semiconductor manufacturing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Regional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Taiwan: Low workforce cost positioning, with a strategic advantage in semiconductor manufacturing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South Korea: Medium workforce cost positioning, with a strategic advantage in electronics manufacturing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China: High workforce cost positioning, with a strategic advantage in domestic market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WORKFORCE COST POSITIONING AND STRATEGIC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Southeast Asia: Low workforce cost positioning, with a strategic advantage in emerging market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7356" y="26517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1948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Japan: High workforce cost positioning, with a strategic advantage in technological expertise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77356" y="35661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1948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Global Competition: India-based freelancers compete with Eastern Europe on Upwork, often undercutting by 40-60% on hourly rates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Semiconductor Workforce Demand and Training Initiatives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819144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81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REGION /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84904" y="1143000"/>
            <a:ext cx="3819144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6344" y="1234440"/>
            <a:ext cx="3681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VALUE (2025–2030)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4048" y="1143000"/>
            <a:ext cx="3819144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5488" y="1234440"/>
            <a:ext cx="3681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819144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81051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Global workforce growth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4904" y="1737360"/>
            <a:ext cx="3819144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4632" y="181051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33.0%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4048" y="1737360"/>
            <a:ext cx="3819144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3776" y="181051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Projected increase by 2030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258775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Unfilled technical 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4904" y="251460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4632" y="258775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67,000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4048" y="251460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3776" y="258775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Due to low technical degree completion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91840"/>
            <a:ext cx="3819144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336499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Global skilled workforce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4904" y="3291840"/>
            <a:ext cx="3819144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4632" y="336499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1,000,000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4048" y="3291840"/>
            <a:ext cx="3819144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3776" y="336499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Deloitte projection by 2030 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6908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14223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Thailand semiconductor trainees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4904" y="406908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4632" y="414223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4048" y="406908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13776" y="414223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Target by 2029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937760"/>
            <a:ext cx="11457432" cy="4114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4937760"/>
            <a:ext cx="73152" cy="4114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501091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84"/>
                </a:solidFill>
                <a:latin typeface="Calibri"/>
              </a:rPr>
              <a:t>4 records  ·  3 metrics  ·  Source: Document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Projectted Semiconductor Workforce Gaps by Country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Industry-Education Collaboration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Apprenticeships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Collaborative programs between industry and education institutions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Training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Customized training programs for semiconductor workforce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Curriculum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Development of specialized curriculum for semiconductor manufacturing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Mentorship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Mentorship programs for semiconductor workforce development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Partnerships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Partnerships between industry, education, and government for workforce 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Timeline of Semiconductor Manufacturing Reshoring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457432" cy="457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3657600"/>
            <a:ext cx="11457432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65199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52067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2359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" y="3950208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" y="3950208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U.S. CHIPS Act introduced</a:t>
            </a:r>
          </a:p>
        </p:txBody>
      </p:sp>
      <p:sp>
        <p:nvSpPr>
          <p:cNvPr id="15" name="Oval 14"/>
          <p:cNvSpPr/>
          <p:nvPr/>
        </p:nvSpPr>
        <p:spPr>
          <a:xfrm>
            <a:off x="3656685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43553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12110" y="804672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12110" y="3319272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76118" y="923544"/>
            <a:ext cx="205374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1E3A2F"/>
                </a:solidFill>
                <a:latin typeface="Calibri"/>
              </a:rPr>
              <a:t>EU Chips Act introduced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3845" y="3364992"/>
            <a:ext cx="18288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12110" y="3950208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2022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35040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03596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5332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03596" y="3950208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03596" y="3950208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7604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Leading foundries expand internationally</a:t>
            </a:r>
          </a:p>
        </p:txBody>
      </p:sp>
      <p:sp>
        <p:nvSpPr>
          <p:cNvPr id="29" name="Oval 28"/>
          <p:cNvSpPr/>
          <p:nvPr/>
        </p:nvSpPr>
        <p:spPr>
          <a:xfrm>
            <a:off x="8239658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26526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95083" y="850392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95083" y="3319272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59091" y="923544"/>
            <a:ext cx="205374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Southeast Asia and Eastern Europe emerge as key hubs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6818" y="3364992"/>
            <a:ext cx="18288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95083" y="3950208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2025</a:t>
            </a:r>
          </a:p>
        </p:txBody>
      </p:sp>
      <p:sp>
        <p:nvSpPr>
          <p:cNvPr id="36" name="Oval 35"/>
          <p:cNvSpPr/>
          <p:nvPr/>
        </p:nvSpPr>
        <p:spPr>
          <a:xfrm>
            <a:off x="10531144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18012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86569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68304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586569" y="3950208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86569" y="3950208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50577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Projected 33% increase in semiconductor workforce demand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2F"/>
                </a:solidFill>
                <a:latin typeface="Calibri"/>
              </a:rPr>
              <a:t>33% Increase in Semiconductor Workforce Demand by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84"/>
                </a:solidFill>
                <a:latin typeface="Calibri"/>
              </a:rPr>
              <a:t>The semiconductor industry faces a significant workforce 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Technical skills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Increasing demand for skilled workers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Need for industry-education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Strategies for Workforce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Invest in Education and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Develop specialized curriculum and training programs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Industry-Education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Collaborative programs between industry and education institutions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Mentorship and Apprenticeships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Mentorship and apprenticeship programs for semiconductor workforce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Diversity and Inclusion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Promote diversity and inclusion in the semiconductor workforce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Global Talent Acquisition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Attract global talent to the semiconductor industry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33% increase in semiconductor workforce demand by 2030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Significant gaps in technical skills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Need for industry-education collaboration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Importance of diversity and inclusion in the semiconductor workforce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→ Global talent acquisition and retention strategies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Office PowerPoint</Application>
  <PresentationFormat>Custom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Verma</cp:lastModifiedBy>
  <cp:revision>1</cp:revision>
  <dcterms:created xsi:type="dcterms:W3CDTF">2013-01-27T09:14:16Z</dcterms:created>
  <dcterms:modified xsi:type="dcterms:W3CDTF">2026-04-16T10:29:24Z</dcterms:modified>
  <cp:category/>
</cp:coreProperties>
</file>