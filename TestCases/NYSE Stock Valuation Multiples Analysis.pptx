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6BB5"/>
                </a:solidFill>
                <a:latin typeface="Calibri"/>
              </a:rPr>
              <a:t>NYSE Stock Valuation Multiples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2B4E"/>
                </a:solidFill>
                <a:latin typeface="Calibri"/>
              </a:rPr>
              <a:t>Comprehensive analysis of NYSE stock valuation using P/E, P/B, and other multiples across three industries: Metal &amp; Mining, Consumer Staples, Utilities.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C0"/>
                </a:solidFill>
                <a:latin typeface="Calibri"/>
              </a:rPr>
              <a:t>AI-Generated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163470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7183" y="1261872"/>
            <a:ext cx="512064" cy="512064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Market Trends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NYSE stock valuation multiples analysis from 2022 to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6624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6624" y="1097280"/>
            <a:ext cx="216347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2327" y="1261872"/>
            <a:ext cx="512064" cy="512064"/>
          </a:xfrm>
          <a:prstGeom prst="ellipse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Sector Performance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Metal &amp; Mining, Consumer Staples, and Utilities sectors analyzed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1097280"/>
            <a:ext cx="2163470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7471" y="1261872"/>
            <a:ext cx="512064" cy="512064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Key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Distinct sector patterns amid volatility, macroeconomic shifts, and trends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097280"/>
            <a:ext cx="216347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2615" y="1261872"/>
            <a:ext cx="512064" cy="512064"/>
          </a:xfrm>
          <a:prstGeom prst="ellipse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Growth Metrics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Strong 2025 rebounds in Metal &amp; Mining, steady growth in Consumer Staples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1097280"/>
            <a:ext cx="2163470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7759" y="1261872"/>
            <a:ext cx="512064" cy="512064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Valuation Multiples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6376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P/E, P/B, EV/EBITDA, P/S, PEG, and EV/Sales multiples analyzed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0D2B4E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Introduction to NYSE Stock Valuation Multiples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NYSE stock valuation multiples analysis is crucial for investors and analysts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To analyze valuation multiples across three industries: Metal &amp; Mining, Consumer Staples, and Utilities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Methodology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Using historical data from 2022 to 2025, including P/E, P/B, EV/EBITDA, P/S, PEG, and EV/Sales multiples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The analysis covers the NYSE-listed stocks in the three selected industries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Importance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Understanding valuation multiples is essential for making informed investment 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81478" cy="50292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81478" cy="10972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C0"/>
                </a:solidFill>
                <a:latin typeface="Calibri"/>
              </a:rPr>
              <a:t>P/E RATIO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6BB5"/>
                </a:solidFill>
                <a:latin typeface="Calibri"/>
              </a:rPr>
              <a:t>16.3x for Newmont, 11.3x for Procter &amp; Gamble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1702498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1558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5838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5838" y="1097280"/>
            <a:ext cx="2681478" cy="10972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7278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C0"/>
                </a:solidFill>
                <a:latin typeface="Calibri"/>
              </a:rPr>
              <a:t>EV/EBITDA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50158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8990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6BB5"/>
                </a:solidFill>
                <a:latin typeface="Calibri"/>
              </a:rPr>
              <a:t>9.3x for Newmont, 7.3x for Duke Energy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4438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4438" y="3566160"/>
            <a:ext cx="1475498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4476" y="1097280"/>
            <a:ext cx="2681478" cy="50292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4476" y="1097280"/>
            <a:ext cx="2681478" cy="10972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5916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C0"/>
                </a:solidFill>
                <a:latin typeface="Calibri"/>
              </a:rPr>
              <a:t>GROWTH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8796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7628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6BB5"/>
                </a:solidFill>
                <a:latin typeface="Calibri"/>
              </a:rPr>
              <a:t>176.8% for Newmont, 8% for Consumer Staples sector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3076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3076" y="3566160"/>
            <a:ext cx="1248498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58834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13114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13114" y="1097280"/>
            <a:ext cx="2681478" cy="10972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4554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C0"/>
                </a:solidFill>
                <a:latin typeface="Calibri"/>
              </a:rPr>
              <a:t>VALUATION MULTIPLE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7434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86266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6BB5"/>
                </a:solidFill>
                <a:latin typeface="Calibri"/>
              </a:rPr>
              <a:t>21.6x for Consumer Staples sector, 10x for Utilities sector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1714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1714" y="3566160"/>
            <a:ext cx="1021499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Metal &amp; Mining vs Consumer Staples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54396" cy="50292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METAL &amp; MINING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54396" cy="804672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64008" cy="804672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High Volatility: Metal &amp; Mining sector experienced high share price volatility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454396" cy="804672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64008" cy="804672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7432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Steady Growth: Consumer Staples sector exhibited steady growth and defensive stability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454396" cy="804672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64008" cy="804672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6576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Low Valuation: Metal &amp; Mining sector had low valuation multiples due to commodity cycles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7356" y="1143000"/>
            <a:ext cx="5454396" cy="5029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8796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CONSUMER STAPLES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7356" y="1737360"/>
            <a:ext cx="5454396" cy="804672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7356" y="1737360"/>
            <a:ext cx="64008" cy="80467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1948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Reliable Earnings: Consumer Staples sector had reliable earnings amid inflation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7356" y="2651760"/>
            <a:ext cx="5454396" cy="804672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7356" y="2651760"/>
            <a:ext cx="64008" cy="80467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1948" y="27432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Growth Metrics: Metal &amp; Mining sector had spiked growth metrics during optimism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7356" y="3566160"/>
            <a:ext cx="5454396" cy="804672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7356" y="3566160"/>
            <a:ext cx="64008" cy="80467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1948" y="36576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Consistent Gains: Consumer Staples sector had consistent gains, e.g., Procter &amp; Gamble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48756" y="1143000"/>
            <a:ext cx="54864" cy="54406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Valuation Multiples for Freeport-McMoRan and Newmont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864358" cy="5943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COMPANY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0118" y="1143000"/>
            <a:ext cx="2864358" cy="59436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1558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P/E (TTM)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76" y="1143000"/>
            <a:ext cx="2864358" cy="59436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5916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P/B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8834" y="1143000"/>
            <a:ext cx="2864358" cy="59436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0274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EV/EBITDA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37360"/>
            <a:ext cx="45720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4E"/>
                </a:solidFill>
                <a:latin typeface="Calibri"/>
              </a:rPr>
              <a:t>Freeport‑McMoRan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0118" y="173736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9846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B5"/>
                </a:solidFill>
                <a:latin typeface="Calibri"/>
              </a:rPr>
              <a:t>34.6x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173736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4204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B5"/>
                </a:solidFill>
                <a:latin typeface="Calibri"/>
              </a:rPr>
              <a:t>2.32x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8834" y="1737360"/>
            <a:ext cx="2864358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8562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B5"/>
                </a:solidFill>
                <a:latin typeface="Calibri"/>
              </a:rPr>
              <a:t>40.1x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514600"/>
            <a:ext cx="45720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4E"/>
                </a:solidFill>
                <a:latin typeface="Calibri"/>
              </a:rPr>
              <a:t>Newmont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30118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9846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B5"/>
                </a:solidFill>
                <a:latin typeface="Calibri"/>
              </a:rPr>
              <a:t>16.3x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4204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B5"/>
                </a:solidFill>
                <a:latin typeface="Calibri"/>
              </a:rPr>
              <a:t>3.28x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8834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8562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B5"/>
                </a:solidFill>
                <a:latin typeface="Calibri"/>
              </a:rPr>
              <a:t>9.3x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83280"/>
            <a:ext cx="11457432" cy="411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383280"/>
            <a:ext cx="73152" cy="41148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5643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9AC0"/>
                </a:solidFill>
                <a:latin typeface="Calibri"/>
              </a:rPr>
              <a:t>2 records  ·  4 metrics  ·  Source: Document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Metals Industry P/E Ratio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C0"/>
                </a:solidFill>
                <a:latin typeface="Calibri"/>
              </a:rPr>
              <a:t>Data visualization
from document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1440"/>
            <a:ext cx="9171432" cy="66751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"/>
            <a:ext cx="8988552" cy="6492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0D2B4E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Utilities Sector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Mixed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Utilities sector displayed mixed 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Lower 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Utilities sector had lower valuation multiples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Capital Expenditure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Utilities sector had significant capital expenditure growth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Growth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Utilities sector had moderate growth metrics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Key Players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Duke Energy and NextEra Energy were key players in the sector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Factors in NYSE Stock 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818638" cy="73152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6BB5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4E"/>
                </a:solidFill>
                <a:latin typeface="Calibri"/>
              </a:rPr>
              <a:t>Valuation Multiples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C0"/>
                </a:solidFill>
                <a:latin typeface="Calibri"/>
              </a:rPr>
              <a:t>P/E, P/B, EV/EBITDA, P/S, PEG, and EV/Sales multiples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0118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0118" y="1188720"/>
            <a:ext cx="2818638" cy="7315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5838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D2B4E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8718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5838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4E"/>
                </a:solidFill>
                <a:latin typeface="Calibri"/>
              </a:rPr>
              <a:t>Growth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4126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C0"/>
                </a:solidFill>
                <a:latin typeface="Calibri"/>
              </a:rPr>
              <a:t>Revenue growth, earnings growth, and dividend growth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0196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0196" y="1188720"/>
            <a:ext cx="2818638" cy="73152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6A4A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68796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5916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4E"/>
                </a:solidFill>
                <a:latin typeface="Calibri"/>
              </a:rPr>
              <a:t>Industry Trends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4204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C0"/>
                </a:solidFill>
                <a:latin typeface="Calibri"/>
              </a:rPr>
              <a:t>Macroeconomic shifts, trends like ESG, energy transition, and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0274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0274" y="1188720"/>
            <a:ext cx="2818638" cy="73152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5994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A3A5A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8874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5994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4E"/>
                </a:solidFill>
                <a:latin typeface="Calibri"/>
              </a:rPr>
              <a:t>Company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4282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C0"/>
                </a:solidFill>
                <a:latin typeface="Calibri"/>
              </a:rPr>
              <a:t>Financial performance, management team, and competitive advantage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Valuation Multiples</a:t>
            </a:r>
          </a:p>
        </p:txBody>
      </p:sp>
      <p:pic>
        <p:nvPicPr>
          <p:cNvPr id="6" name="Picture 5" descr="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12079224" cy="10972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D2B4E"/>
                </a:solidFill>
                <a:latin typeface="Calibri"/>
              </a:rPr>
              <a:t>NYSE Stock Valuation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A9AC0"/>
                </a:solidFill>
                <a:latin typeface="Calibri"/>
              </a:rPr>
              <a:t>The NYSE stock valuation multiples analysis reveals distinct sector patterns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97880"/>
            <a:ext cx="54864" cy="73152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Growth Metrics: 176.8%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5897880"/>
            <a:ext cx="54864" cy="73152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Valuation Multiple: 21.6x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9288" y="5897880"/>
            <a:ext cx="54864" cy="73152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P/E Ratio: 16.3x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NYSE stock valuation multiples analysis is crucial for investors and analysts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Distinct sector patterns were observed, with Metal &amp; Mining experiencing high volatility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Consumer Staples sector exhibited steady growth and defensive stability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Utilities sector displayed mixed performance, with lower valuation multiples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572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Understanding valuation multiples is essential for making informed investment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Final Thoughts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Investment Decisions: Understanding valuation multiples is essential for making informed investment decisions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Sector Performance: Each sector has its unique characteristics and trends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Growth Opportunities: Identifying growth opportunities is crucial for long-term success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Risk Management: Managing risk is essential in today's volatile market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572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Continuous Monitoring: Continuous monitoring of the market and sector trends is necessary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